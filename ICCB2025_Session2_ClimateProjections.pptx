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92_10940F30.xml" ContentType="application/vnd.ms-powerpoint.comments+xml"/>
  <Override PartName="/ppt/comments/modernComment_288_5E6D642E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402" r:id="rId5"/>
    <p:sldId id="648" r:id="rId6"/>
    <p:sldId id="662" r:id="rId7"/>
    <p:sldId id="276" r:id="rId8"/>
    <p:sldId id="660" r:id="rId9"/>
    <p:sldId id="769" r:id="rId10"/>
    <p:sldId id="663" r:id="rId11"/>
    <p:sldId id="768" r:id="rId12"/>
    <p:sldId id="770" r:id="rId13"/>
    <p:sldId id="780" r:id="rId14"/>
    <p:sldId id="771" r:id="rId15"/>
    <p:sldId id="781" r:id="rId16"/>
    <p:sldId id="783" r:id="rId17"/>
    <p:sldId id="649" r:id="rId18"/>
    <p:sldId id="791" r:id="rId19"/>
    <p:sldId id="792" r:id="rId20"/>
    <p:sldId id="784" r:id="rId21"/>
    <p:sldId id="785" r:id="rId22"/>
    <p:sldId id="786" r:id="rId23"/>
    <p:sldId id="796" r:id="rId24"/>
    <p:sldId id="793" r:id="rId25"/>
    <p:sldId id="787" r:id="rId26"/>
    <p:sldId id="797" r:id="rId27"/>
    <p:sldId id="788" r:id="rId28"/>
    <p:sldId id="789" r:id="rId29"/>
    <p:sldId id="790" r:id="rId30"/>
    <p:sldId id="795" r:id="rId31"/>
    <p:sldId id="794" r:id="rId3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E31BCD-7F51-5362-E73C-67B950D6E02F}" name="Sarah Chapman" initials="SC" userId="S::Sarah.Chapman@des.qld.gov.au::f3f01bf4-1c8a-44b5-850d-82840047e82b" providerId="AD"/>
  <p188:author id="{4E405CF4-6E88-6081-FAB0-21EB402E8198}" name="Rohan Eccles" initials="RE" userId="S::Rohan.Eccles@des.qld.gov.au::564d4391-8ef7-4616-9190-507970f2c9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DAF"/>
    <a:srgbClr val="003051"/>
    <a:srgbClr val="003152"/>
    <a:srgbClr val="EE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D5C93-2E69-4ACC-AAC0-B7DB40A6AEC2}" v="33" dt="2025-05-13T03:45:39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0" autoAdjust="0"/>
    <p:restoredTop sz="96801" autoAdjust="0"/>
  </p:normalViewPr>
  <p:slideViewPr>
    <p:cSldViewPr snapToGrid="0">
      <p:cViewPr varScale="1">
        <p:scale>
          <a:sx n="100" d="100"/>
          <a:sy n="100" d="100"/>
        </p:scale>
        <p:origin x="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92_10940F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E1442F-65F3-40B2-94B8-2ADE58324668}" authorId="{4E405CF4-6E88-6081-FAB0-21EB402E8198}" created="2025-05-14T01:59:02.0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8138672" sldId="402"/>
      <ac:spMk id="8" creationId="{2275965E-C62F-C6DE-4E58-578CC096E2C6}"/>
      <ac:txMk cp="0" len="15">
        <ac:context len="164" hash="3409116992"/>
      </ac:txMk>
    </ac:txMkLst>
    <p188:pos x="2372442" y="268651"/>
    <p188:txBody>
      <a:bodyPr/>
      <a:lstStyle/>
      <a:p>
        <a:r>
          <a:rPr lang="en-AU"/>
          <a:t>Ralph not also with UQ?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5-14T02:42:44.237" authorId="{35E31BCD-7F51-5362-E73C-67B950D6E02F}"/>
          </p223:rxn>
        </p223:reactions>
      </p:ext>
    </p188:extLst>
  </p188:cm>
</p188:cmLst>
</file>

<file path=ppt/comments/modernComment_288_5E6D642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D7F68A-BD3D-4911-B9B9-F0CE9688BDD6}" authorId="{4E405CF4-6E88-6081-FAB0-21EB402E8198}" created="2025-05-14T02:14:03.6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84227374" sldId="648"/>
      <ac:spMk id="10" creationId="{12A71A4E-ED00-5269-DA64-9D3E24A6D503}"/>
    </ac:deMkLst>
    <p188:txBody>
      <a:bodyPr/>
      <a:lstStyle/>
      <a:p>
        <a:r>
          <a:rPr lang="en-AU"/>
          <a:t>My suggestion with chat GPT’s help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09D7A-BA77-4D3E-8885-F2957CF075B2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6BF31-5C53-40E8-B992-076F5C2206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66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n-AU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6BF31-5C53-40E8-B992-076F5C2206C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770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pening/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BF6A6B3-B483-BCCC-CAAC-EBD954297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1AAE70-C068-BB8A-3FF9-F8E5BCAB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984" y="1765156"/>
            <a:ext cx="9877465" cy="21113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F975D-502D-3B3F-55E4-60C3F5300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9984" y="3894787"/>
            <a:ext cx="987746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126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4BFECE25-7762-BB3B-8D56-757F3E87A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77315C6-02A4-A89E-FF3F-9DCBB17E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985" y="1765156"/>
            <a:ext cx="7119280" cy="211137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44A2C86-F384-E113-C6EA-155C6D550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9985" y="3894787"/>
            <a:ext cx="71192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92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4BFECE25-7762-BB3B-8D56-757F3E87A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4896C0-BD7E-2F91-9D09-012D4B3B45E2}"/>
              </a:ext>
            </a:extLst>
          </p:cNvPr>
          <p:cNvSpPr/>
          <p:nvPr userDrawn="1"/>
        </p:nvSpPr>
        <p:spPr>
          <a:xfrm>
            <a:off x="6096000" y="0"/>
            <a:ext cx="2529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B95D242-B5B1-2914-DB4F-29B4816A9A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4476" cy="6857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5C76596-A49D-A061-F069-2911B3BD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985" y="1765156"/>
            <a:ext cx="4624491" cy="211137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AB6ADF0-285F-42A0-36AF-31BCC1E20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9985" y="3894787"/>
            <a:ext cx="462449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46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0E574A88-6730-8D73-6307-B21723B80E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F9BD4F29-A6A4-9641-A284-1A3B063C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6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B8D6B16-7E9B-9E4F-2CD5-E0CDE80559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5085522" cy="4789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F9BD4F29-A6A4-9641-A284-1A3B063C39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098B59-5898-B52A-A1A7-CA83DE3626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8278" y="1338349"/>
            <a:ext cx="5085522" cy="4789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3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F9BD4F29-A6A4-9641-A284-1A3B063C3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364454B-C70F-4CF7-135B-666993F66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0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1E440AFD-2553-D07D-F0BF-57BC5C69B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6337" cy="779463"/>
          </a:xfrm>
        </p:spPr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9706337" cy="515452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7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09337D82-5EEB-3387-C2B5-85185EB0A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64210" cy="779463"/>
          </a:xfrm>
        </p:spPr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4591878" cy="505087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098B59-5898-B52A-A1A7-CA83DE3626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66395" y="1338349"/>
            <a:ext cx="4936015" cy="5050876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F9BD4F29-A6A4-9641-A284-1A3B063C3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428A17C0-964F-B7A2-6A90-ED006919E5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9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E021D8AC-8AE7-1139-F3EF-E34A3D57E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10515600" cy="45300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5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0C67E1-4FC8-FA39-B98D-13C80CE089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5085522" cy="449529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098B59-5898-B52A-A1A7-CA83DE3626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8278" y="1338349"/>
            <a:ext cx="5085522" cy="449529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94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F9BD4F29-A6A4-9641-A284-1A3B063C3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0034C88A-DDEA-B445-D981-BD83108F5C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4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46D4FF2F-0EC2-9601-3237-019948803E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10515600" cy="45300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36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4AA9613F-9366-6684-684B-6202E6127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15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5085522" cy="449529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098B59-5898-B52A-A1A7-CA83DE36268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8278" y="1338349"/>
            <a:ext cx="5085522" cy="449529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6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05A8-1C01-ACB0-0F18-119BE6B0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34C6-51CA-11AB-32FB-9A45CCAEF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EBAC-49E4-1B16-1CE9-58D5D1A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F9BD4F29-A6A4-9641-A284-1A3B063C3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1A1140A6-595F-6B8E-CA6B-94E0AC4A79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-1"/>
            <a:ext cx="12190476" cy="68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69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586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6586"/>
            <a:ext cx="9616771" cy="6870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  <a:endParaRPr lang="en-AU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75900" y="1160525"/>
            <a:ext cx="11023686" cy="5107271"/>
          </a:xfrm>
        </p:spPr>
        <p:txBody>
          <a:bodyPr/>
          <a:lstStyle>
            <a:lvl1pPr marL="0" marR="0" indent="0" algn="l" defTabSz="1218072" rtl="0" eaLnBrk="0" fontAlgn="base" latinLnBrk="0" hangingPunct="0">
              <a:lnSpc>
                <a:spcPct val="100000"/>
              </a:lnSpc>
              <a:spcBef>
                <a:spcPts val="799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4419741" algn="l"/>
              </a:tabLst>
              <a:defRPr sz="1865"/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7194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94687-72E9-4753-BA13-77B660611163}" type="datetime1">
              <a:rPr lang="en-AU" smtClean="0"/>
              <a:t>19/05/2025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82F0-8EC3-48E9-8046-3B89B9DC8F3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987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D4184-F596-9A5C-1676-4B4AA64A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B63F9-B69F-2AE1-17A8-4A21825BD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8349"/>
            <a:ext cx="10515600" cy="478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75" r:id="rId2"/>
    <p:sldLayoutId id="2147483676" r:id="rId3"/>
    <p:sldLayoutId id="2147483650" r:id="rId4"/>
    <p:sldLayoutId id="2147483659" r:id="rId5"/>
    <p:sldLayoutId id="2147483662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4" r:id="rId12"/>
    <p:sldLayoutId id="2147483672" r:id="rId13"/>
    <p:sldLayoutId id="2147483673" r:id="rId14"/>
    <p:sldLayoutId id="2147483671" r:id="rId15"/>
    <p:sldLayoutId id="2147483663" r:id="rId16"/>
    <p:sldLayoutId id="214748366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315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2_10940F3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288_5E6D642E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sdesrosiers1989/ICCB_Projections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2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jpeg"/><Relationship Id="rId11" Type="http://schemas.openxmlformats.org/officeDocument/2006/relationships/image" Target="../media/image24.sv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dx.doi.org/10.25914/8fve-1910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paddock.qld.gov.au/qld-future-climate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29/2023EF003548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sdesrosiers1989/ICCB_Projection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brewer2.org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articles/ggplot2.html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" TargetMode="External"/><Relationship Id="rId2" Type="http://schemas.openxmlformats.org/officeDocument/2006/relationships/hyperlink" Target="https://oscarperpinan.github.io/rastervis/#levelplot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FAF5-BF09-4F37-AE93-CCF3296D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AU" sz="4800" dirty="0">
                <a:solidFill>
                  <a:srgbClr val="FFFFFF"/>
                </a:solidFill>
                <a:latin typeface="Arial"/>
                <a:ea typeface="Roboto"/>
                <a:cs typeface="Arial"/>
              </a:rPr>
              <a:t>Working with downscaled climate projections in 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75965E-C62F-C6DE-4E58-578CC096E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Ralph Trancoso</a:t>
            </a:r>
            <a:r>
              <a:rPr lang="en-US" baseline="30000" dirty="0"/>
              <a:t>1,2</a:t>
            </a:r>
            <a:r>
              <a:rPr lang="en-US" dirty="0"/>
              <a:t>, Sarah Chapman</a:t>
            </a:r>
            <a:r>
              <a:rPr lang="en-US" baseline="30000" dirty="0"/>
              <a:t>1,2</a:t>
            </a:r>
            <a:r>
              <a:rPr lang="en-US" dirty="0"/>
              <a:t>, Rohan Eccles</a:t>
            </a:r>
            <a:r>
              <a:rPr lang="en-US" baseline="30000" dirty="0"/>
              <a:t>1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600" baseline="30000" dirty="0">
                <a:cs typeface="Arial"/>
              </a:rPr>
              <a:t>1 Climate Projections &amp; Services team, Queensland Treasury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aseline="30000" dirty="0">
                <a:cs typeface="Arial"/>
              </a:rPr>
              <a:t>2 School of the Environment, University of Queensland</a:t>
            </a:r>
            <a:endParaRPr lang="en-US" sz="1600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81386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8931-92C3-4F69-AE6F-15DAA606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Who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28A5-C4F1-4903-9C87-FE336FB8D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76" y="2896821"/>
            <a:ext cx="2944307" cy="6745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AU" dirty="0"/>
              <a:t>Ralph Trancoso</a:t>
            </a: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 marL="0" indent="0">
              <a:lnSpc>
                <a:spcPct val="110000"/>
              </a:lnSpc>
              <a:buNone/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i="1" dirty="0">
              <a:solidFill>
                <a:srgbClr val="779DAF"/>
              </a:solidFill>
              <a:cs typeface="Arial" panose="020B0604020202020204"/>
            </a:endParaRPr>
          </a:p>
        </p:txBody>
      </p:sp>
      <p:pic>
        <p:nvPicPr>
          <p:cNvPr id="7" name="Picture 6" descr="A stick figure with a book and eyes drawn in black&#10;&#10;AI-generated content may be incorrect.">
            <a:extLst>
              <a:ext uri="{FF2B5EF4-FFF2-40B4-BE49-F238E27FC236}">
                <a16:creationId xmlns:a16="http://schemas.microsoft.com/office/drawing/2014/main" id="{D25F7EA2-3A00-0FE0-5877-C96D9431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104" y="2359808"/>
            <a:ext cx="2191056" cy="241016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44922D9-A662-6249-640F-3BB63BB1A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060" y="1162049"/>
            <a:ext cx="1652869" cy="165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ohan Eccles">
            <a:extLst>
              <a:ext uri="{FF2B5EF4-FFF2-40B4-BE49-F238E27FC236}">
                <a16:creationId xmlns:a16="http://schemas.microsoft.com/office/drawing/2014/main" id="{499C83A6-D8AA-D81D-1A1E-DDF44FFD3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994" y="412013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24A67B-6A43-F9D7-F91B-8D886B71478C}"/>
              </a:ext>
            </a:extLst>
          </p:cNvPr>
          <p:cNvSpPr txBox="1">
            <a:spLocks/>
          </p:cNvSpPr>
          <p:nvPr/>
        </p:nvSpPr>
        <p:spPr>
          <a:xfrm>
            <a:off x="8125104" y="4703040"/>
            <a:ext cx="2944307" cy="674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AU" dirty="0"/>
              <a:t>Sarah Chapman</a:t>
            </a: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i="1" dirty="0">
              <a:solidFill>
                <a:srgbClr val="779DAF"/>
              </a:solidFill>
              <a:cs typeface="Arial" panose="020B060402020202020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00F209-3BA2-8FBD-95EB-5E7336BE4E0A}"/>
              </a:ext>
            </a:extLst>
          </p:cNvPr>
          <p:cNvSpPr txBox="1">
            <a:spLocks/>
          </p:cNvSpPr>
          <p:nvPr/>
        </p:nvSpPr>
        <p:spPr>
          <a:xfrm>
            <a:off x="746975" y="6303042"/>
            <a:ext cx="2944307" cy="674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AU" dirty="0"/>
              <a:t>Rohan Eccles</a:t>
            </a: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i="1" dirty="0">
              <a:solidFill>
                <a:srgbClr val="779DAF"/>
              </a:solidFill>
              <a:cs typeface="Arial" panose="020B0604020202020204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2A71A4E-ED00-5269-DA64-9D3E24A6D503}"/>
              </a:ext>
            </a:extLst>
          </p:cNvPr>
          <p:cNvSpPr txBox="1">
            <a:spLocks/>
          </p:cNvSpPr>
          <p:nvPr/>
        </p:nvSpPr>
        <p:spPr>
          <a:xfrm>
            <a:off x="3289009" y="1492462"/>
            <a:ext cx="4082844" cy="10564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Science leader, something </a:t>
            </a:r>
            <a:r>
              <a:rPr lang="en-AU" dirty="0" err="1"/>
              <a:t>something</a:t>
            </a:r>
            <a:br>
              <a:rPr lang="en-AU" sz="2200" dirty="0"/>
            </a:br>
            <a:endParaRPr lang="en-AU" sz="22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7E483C-0436-83B5-687C-33AE2AD6CCDE}"/>
              </a:ext>
            </a:extLst>
          </p:cNvPr>
          <p:cNvSpPr txBox="1">
            <a:spLocks/>
          </p:cNvSpPr>
          <p:nvPr/>
        </p:nvSpPr>
        <p:spPr>
          <a:xfrm>
            <a:off x="3026492" y="4232620"/>
            <a:ext cx="3183112" cy="2070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Hydrologist, climate extremes</a:t>
            </a:r>
            <a:endParaRPr lang="en-AU" sz="22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88D254-D64D-1803-C60D-9C07D7940192}"/>
              </a:ext>
            </a:extLst>
          </p:cNvPr>
          <p:cNvSpPr txBox="1">
            <a:spLocks/>
          </p:cNvSpPr>
          <p:nvPr/>
        </p:nvSpPr>
        <p:spPr>
          <a:xfrm>
            <a:off x="5691368" y="3176135"/>
            <a:ext cx="2709291" cy="105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Applied climate science</a:t>
            </a:r>
            <a:endParaRPr lang="en-AU" sz="22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2273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79A7CE-7FFE-62C4-FD3C-4E1F9F08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5995"/>
            <a:ext cx="10515600" cy="779463"/>
          </a:xfrm>
        </p:spPr>
        <p:txBody>
          <a:bodyPr/>
          <a:lstStyle/>
          <a:p>
            <a:r>
              <a:rPr lang="en-AU" dirty="0"/>
              <a:t>Who are you?</a:t>
            </a:r>
          </a:p>
        </p:txBody>
      </p:sp>
    </p:spTree>
    <p:extLst>
      <p:ext uri="{BB962C8B-B14F-4D97-AF65-F5344CB8AC3E}">
        <p14:creationId xmlns:p14="http://schemas.microsoft.com/office/powerpoint/2010/main" val="417820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eader image for ICCB 2025">
            <a:extLst>
              <a:ext uri="{FF2B5EF4-FFF2-40B4-BE49-F238E27FC236}">
                <a16:creationId xmlns:a16="http://schemas.microsoft.com/office/drawing/2014/main" id="{25FF1D0D-3284-2700-960B-8A4FF3DDA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9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99C56-CB43-8B1F-B8B1-A71DA2CF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5975"/>
            <a:ext cx="10515600" cy="1281113"/>
          </a:xfrm>
        </p:spPr>
        <p:txBody>
          <a:bodyPr>
            <a:normAutofit/>
          </a:bodyPr>
          <a:lstStyle/>
          <a:p>
            <a:r>
              <a:rPr lang="en-AU" sz="3600" dirty="0"/>
              <a:t>Open-source geospatial tools for conservation under climate change - A Koala case study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32C02D6-D4BB-8E9D-D69F-C0646E44EE92}"/>
              </a:ext>
            </a:extLst>
          </p:cNvPr>
          <p:cNvGraphicFramePr>
            <a:graphicFrameLocks noGrp="1"/>
          </p:cNvGraphicFramePr>
          <p:nvPr/>
        </p:nvGraphicFramePr>
        <p:xfrm>
          <a:off x="538162" y="3529014"/>
          <a:ext cx="11115675" cy="2352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3135">
                  <a:extLst>
                    <a:ext uri="{9D8B030D-6E8A-4147-A177-3AD203B41FA5}">
                      <a16:colId xmlns:a16="http://schemas.microsoft.com/office/drawing/2014/main" val="3997745817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2619779382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3805414486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951778158"/>
                    </a:ext>
                  </a:extLst>
                </a:gridCol>
                <a:gridCol w="2223135">
                  <a:extLst>
                    <a:ext uri="{9D8B030D-6E8A-4147-A177-3AD203B41FA5}">
                      <a16:colId xmlns:a16="http://schemas.microsoft.com/office/drawing/2014/main" val="4082001275"/>
                    </a:ext>
                  </a:extLst>
                </a:gridCol>
              </a:tblGrid>
              <a:tr h="527377">
                <a:tc>
                  <a:txBody>
                    <a:bodyPr/>
                    <a:lstStyle/>
                    <a:p>
                      <a:r>
                        <a:rPr lang="en-AU" dirty="0"/>
                        <a:t>Session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Session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864431"/>
                  </a:ext>
                </a:extLst>
              </a:tr>
              <a:tr h="910267">
                <a:tc>
                  <a:txBody>
                    <a:bodyPr/>
                    <a:lstStyle/>
                    <a:p>
                      <a:r>
                        <a:rPr lang="en-AU" dirty="0"/>
                        <a:t>Intro to geospatial data and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Downscaled climate projections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Koala SDMs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Spatial conservation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Making maps with QGIS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999135"/>
                  </a:ext>
                </a:extLst>
              </a:tr>
              <a:tr h="910267">
                <a:tc>
                  <a:txBody>
                    <a:bodyPr/>
                    <a:lstStyle/>
                    <a:p>
                      <a:r>
                        <a:rPr lang="en-AU" sz="1400" dirty="0"/>
                        <a:t>Jason Flower, Mitch Rudge, Catherine Kim, EcoCommons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Ralph Trancoso, Sarah Chapman, Rohan Eccles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Charlotte Patterson, Scott Forrest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Brooke Williams, Caitie Kuemple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Emma Hain, Nyall Dawson, Jason Flower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5303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954C3EC-1CD2-8F3C-77DC-A3E6E1077B21}"/>
              </a:ext>
            </a:extLst>
          </p:cNvPr>
          <p:cNvSpPr/>
          <p:nvPr/>
        </p:nvSpPr>
        <p:spPr>
          <a:xfrm>
            <a:off x="2728632" y="3490913"/>
            <a:ext cx="2248721" cy="2413001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14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DA31-9CB9-EE9B-F9FA-21CDAFF9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A3AF-E63A-DC17-5D43-366DC92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Background on downscaled climate projections</a:t>
            </a:r>
          </a:p>
          <a:p>
            <a:endParaRPr lang="en-AU" dirty="0"/>
          </a:p>
          <a:p>
            <a:r>
              <a:rPr lang="en-AU" dirty="0"/>
              <a:t>R scripts (~ 30 mins each)</a:t>
            </a:r>
          </a:p>
          <a:p>
            <a:pPr lvl="1"/>
            <a:r>
              <a:rPr lang="en-AU" dirty="0"/>
              <a:t>Importing, plotting, </a:t>
            </a:r>
            <a:r>
              <a:rPr lang="en-AU" dirty="0" err="1"/>
              <a:t>subsetting</a:t>
            </a:r>
            <a:r>
              <a:rPr lang="en-AU" dirty="0"/>
              <a:t> climate projections</a:t>
            </a:r>
          </a:p>
          <a:p>
            <a:pPr lvl="1"/>
            <a:r>
              <a:rPr lang="en-AU" dirty="0"/>
              <a:t>Calculating ensemble mean</a:t>
            </a:r>
          </a:p>
          <a:p>
            <a:pPr lvl="1"/>
            <a:r>
              <a:rPr lang="en-AU" dirty="0"/>
              <a:t>Calculating bioclimatic indices</a:t>
            </a:r>
          </a:p>
          <a:p>
            <a:pPr lvl="1"/>
            <a:endParaRPr lang="en-AU" dirty="0"/>
          </a:p>
          <a:p>
            <a:r>
              <a:rPr lang="en-AU" dirty="0"/>
              <a:t>Start installing packages while we talk!</a:t>
            </a:r>
          </a:p>
          <a:p>
            <a:pPr lvl="1"/>
            <a:r>
              <a:rPr lang="en-AU" dirty="0"/>
              <a:t>terra, </a:t>
            </a:r>
            <a:r>
              <a:rPr lang="en-AU" dirty="0" err="1"/>
              <a:t>dplyr</a:t>
            </a:r>
            <a:r>
              <a:rPr lang="en-AU" dirty="0"/>
              <a:t>, sf, ggplot2, </a:t>
            </a:r>
            <a:r>
              <a:rPr lang="en-AU" dirty="0" err="1"/>
              <a:t>dismo</a:t>
            </a:r>
            <a:r>
              <a:rPr lang="en-AU" dirty="0"/>
              <a:t>, </a:t>
            </a:r>
            <a:r>
              <a:rPr lang="en-AU" dirty="0" err="1"/>
              <a:t>rasterVis</a:t>
            </a:r>
            <a:r>
              <a:rPr lang="en-AU" dirty="0"/>
              <a:t>, reshape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DAE28-F7DD-F701-9F59-D9CFD3E6ADF9}"/>
              </a:ext>
            </a:extLst>
          </p:cNvPr>
          <p:cNvSpPr txBox="1"/>
          <p:nvPr/>
        </p:nvSpPr>
        <p:spPr>
          <a:xfrm>
            <a:off x="5100918" y="570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2"/>
              </a:rPr>
              <a:t>https://github.com/sdesrosiers1989/ICCB_Projections</a:t>
            </a:r>
            <a:endParaRPr lang="en-AU" dirty="0"/>
          </a:p>
        </p:txBody>
      </p:sp>
      <p:pic>
        <p:nvPicPr>
          <p:cNvPr id="2050" name="Picture 2" descr="GitHub Download PNG Image | PNG Mart">
            <a:extLst>
              <a:ext uri="{FF2B5EF4-FFF2-40B4-BE49-F238E27FC236}">
                <a16:creationId xmlns:a16="http://schemas.microsoft.com/office/drawing/2014/main" id="{B39C0032-C04D-AD9B-8472-4F9C01BEF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978" y="324550"/>
            <a:ext cx="1290918" cy="86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123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6767-B865-CB6B-4630-EF5D4EAF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climate model?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B754958-C2DB-E2EE-1A48-A89BDA374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7037"/>
            <a:ext cx="4180324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A24A1-7D01-3A93-7A02-5823D7237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1057275"/>
            <a:ext cx="55245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8931-92C3-4F69-AE6F-15DAA606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downscaled climate projections?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28A5-C4F1-4903-9C87-FE336FB8D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99" y="1338349"/>
            <a:ext cx="9063484" cy="515452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AU" dirty="0"/>
              <a:t>Global climate models (GCMs) have a spatial resolution of 100 – 200km</a:t>
            </a:r>
          </a:p>
          <a:p>
            <a:pPr>
              <a:lnSpc>
                <a:spcPct val="110000"/>
              </a:lnSpc>
            </a:pPr>
            <a:endParaRPr lang="en-AU" dirty="0"/>
          </a:p>
          <a:p>
            <a:pPr>
              <a:lnSpc>
                <a:spcPct val="110000"/>
              </a:lnSpc>
            </a:pPr>
            <a:r>
              <a:rPr lang="en-AU" dirty="0"/>
              <a:t>CMIP (Coupled Model Intercomparison Project) – major international modelling effort which feeds into IPCC reports</a:t>
            </a:r>
          </a:p>
          <a:p>
            <a:pPr lvl="1">
              <a:lnSpc>
                <a:spcPct val="110000"/>
              </a:lnSpc>
            </a:pPr>
            <a:r>
              <a:rPr lang="en-AU" dirty="0"/>
              <a:t>Currently on CMIP6</a:t>
            </a:r>
          </a:p>
          <a:p>
            <a:pPr>
              <a:lnSpc>
                <a:spcPct val="110000"/>
              </a:lnSpc>
            </a:pPr>
            <a:endParaRPr lang="en-AU" dirty="0"/>
          </a:p>
          <a:p>
            <a:pPr>
              <a:lnSpc>
                <a:spcPct val="110000"/>
              </a:lnSpc>
            </a:pPr>
            <a:r>
              <a:rPr lang="en-AU" dirty="0"/>
              <a:t>Dynamical downscaling – running a higher resolution model with the inputs of a coarser resolution model (i.e., GCM) to improve the resolution of your data</a:t>
            </a: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 marL="0" indent="0">
              <a:lnSpc>
                <a:spcPct val="110000"/>
              </a:lnSpc>
              <a:buNone/>
            </a:pPr>
            <a:endParaRPr lang="en-AU" dirty="0">
              <a:solidFill>
                <a:srgbClr val="5A5A5A"/>
              </a:solidFill>
              <a:cs typeface="Arial"/>
            </a:endParaRPr>
          </a:p>
          <a:p>
            <a:pPr>
              <a:lnSpc>
                <a:spcPct val="110000"/>
              </a:lnSpc>
            </a:pPr>
            <a:endParaRPr lang="en-AU" i="1" dirty="0">
              <a:solidFill>
                <a:srgbClr val="779DAF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5452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727965A-8DF0-50A1-6532-EA7843F2FB52}"/>
              </a:ext>
            </a:extLst>
          </p:cNvPr>
          <p:cNvSpPr txBox="1"/>
          <p:nvPr/>
        </p:nvSpPr>
        <p:spPr>
          <a:xfrm>
            <a:off x="-1711842" y="4040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5B144E11-C94C-71E9-D807-62C2BEE00A5B}"/>
              </a:ext>
            </a:extLst>
          </p:cNvPr>
          <p:cNvGrpSpPr/>
          <p:nvPr/>
        </p:nvGrpSpPr>
        <p:grpSpPr>
          <a:xfrm>
            <a:off x="-33699" y="2906900"/>
            <a:ext cx="3077568" cy="3940024"/>
            <a:chOff x="-66799" y="2902334"/>
            <a:chExt cx="3077568" cy="3940024"/>
          </a:xfrm>
        </p:grpSpPr>
        <p:pic>
          <p:nvPicPr>
            <p:cNvPr id="1026" name="Picture 2" descr="Map&#10;&#10;Description automatically generated">
              <a:extLst>
                <a:ext uri="{FF2B5EF4-FFF2-40B4-BE49-F238E27FC236}">
                  <a16:creationId xmlns:a16="http://schemas.microsoft.com/office/drawing/2014/main" id="{1CB7A6EC-82A4-06F9-26B7-77FD91A72C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20" y="2902334"/>
              <a:ext cx="2649015" cy="3345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BF8410E5-DD16-AE2A-A145-933A934C8763}"/>
                </a:ext>
              </a:extLst>
            </p:cNvPr>
            <p:cNvGrpSpPr/>
            <p:nvPr/>
          </p:nvGrpSpPr>
          <p:grpSpPr>
            <a:xfrm>
              <a:off x="-66799" y="6209620"/>
              <a:ext cx="3077568" cy="632738"/>
              <a:chOff x="155921" y="4977265"/>
              <a:chExt cx="3077568" cy="632738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2A7BB2B3-32A9-B38D-3F5C-BCEFF0D216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755" y="5214908"/>
                <a:ext cx="200025" cy="15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9" name="Picture 5">
                <a:extLst>
                  <a:ext uri="{FF2B5EF4-FFF2-40B4-BE49-F238E27FC236}">
                    <a16:creationId xmlns:a16="http://schemas.microsoft.com/office/drawing/2014/main" id="{5D5AEAE0-BDAC-F84C-E448-A3FBE0DEBC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0755" y="5401673"/>
                <a:ext cx="200025" cy="15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1200DB83-977E-A67F-28A1-6B8C31E98B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1538" y="5230381"/>
                <a:ext cx="200025" cy="142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1" name="Picture 7">
                <a:extLst>
                  <a:ext uri="{FF2B5EF4-FFF2-40B4-BE49-F238E27FC236}">
                    <a16:creationId xmlns:a16="http://schemas.microsoft.com/office/drawing/2014/main" id="{0FD1005F-B23C-3429-0A82-F15A0AF3F3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9507" y="5396934"/>
                <a:ext cx="200025" cy="15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7AC6ADA6-883C-B585-476B-7A86A5ABFB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58072" y="5226061"/>
                <a:ext cx="200025" cy="15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3" name="Picture 9">
                <a:extLst>
                  <a:ext uri="{FF2B5EF4-FFF2-40B4-BE49-F238E27FC236}">
                    <a16:creationId xmlns:a16="http://schemas.microsoft.com/office/drawing/2014/main" id="{30EA9CA6-7011-C116-3121-106B185087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67597" y="5412826"/>
                <a:ext cx="190500" cy="142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7" name="TextBox 28">
                <a:extLst>
                  <a:ext uri="{FF2B5EF4-FFF2-40B4-BE49-F238E27FC236}">
                    <a16:creationId xmlns:a16="http://schemas.microsoft.com/office/drawing/2014/main" id="{01FE619F-34C9-A253-B791-95D39ED89DF8}"/>
                  </a:ext>
                </a:extLst>
              </p:cNvPr>
              <p:cNvSpPr txBox="1"/>
              <p:nvPr/>
            </p:nvSpPr>
            <p:spPr>
              <a:xfrm>
                <a:off x="427998" y="5142371"/>
                <a:ext cx="828174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Equatorial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24" name="TextBox 29">
                <a:extLst>
                  <a:ext uri="{FF2B5EF4-FFF2-40B4-BE49-F238E27FC236}">
                    <a16:creationId xmlns:a16="http://schemas.microsoft.com/office/drawing/2014/main" id="{5DFBFA3D-1702-5249-608B-19D55593EF15}"/>
                  </a:ext>
                </a:extLst>
              </p:cNvPr>
              <p:cNvSpPr txBox="1"/>
              <p:nvPr/>
            </p:nvSpPr>
            <p:spPr>
              <a:xfrm>
                <a:off x="438749" y="5326976"/>
                <a:ext cx="705310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Tropical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25" name="TextBox 30">
                <a:extLst>
                  <a:ext uri="{FF2B5EF4-FFF2-40B4-BE49-F238E27FC236}">
                    <a16:creationId xmlns:a16="http://schemas.microsoft.com/office/drawing/2014/main" id="{6F530ABC-A178-6C78-CDD3-AF7F2A5DD74E}"/>
                  </a:ext>
                </a:extLst>
              </p:cNvPr>
              <p:cNvSpPr txBox="1"/>
              <p:nvPr/>
            </p:nvSpPr>
            <p:spPr>
              <a:xfrm>
                <a:off x="1409532" y="5153524"/>
                <a:ext cx="883275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Sub-tropical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27" name="TextBox 31">
                <a:extLst>
                  <a:ext uri="{FF2B5EF4-FFF2-40B4-BE49-F238E27FC236}">
                    <a16:creationId xmlns:a16="http://schemas.microsoft.com/office/drawing/2014/main" id="{211D0BD0-434D-4ED8-D243-A7BC53963359}"/>
                  </a:ext>
                </a:extLst>
              </p:cNvPr>
              <p:cNvSpPr txBox="1"/>
              <p:nvPr/>
            </p:nvSpPr>
            <p:spPr>
              <a:xfrm>
                <a:off x="1399707" y="5334733"/>
                <a:ext cx="849586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Temperate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34" name="TextBox 32">
                <a:extLst>
                  <a:ext uri="{FF2B5EF4-FFF2-40B4-BE49-F238E27FC236}">
                    <a16:creationId xmlns:a16="http://schemas.microsoft.com/office/drawing/2014/main" id="{336646C3-DDAE-53DC-527C-CB55DDCF6E4E}"/>
                  </a:ext>
                </a:extLst>
              </p:cNvPr>
              <p:cNvSpPr txBox="1"/>
              <p:nvPr/>
            </p:nvSpPr>
            <p:spPr>
              <a:xfrm>
                <a:off x="2416066" y="5350701"/>
                <a:ext cx="523329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Arid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35" name="TextBox 33">
                <a:extLst>
                  <a:ext uri="{FF2B5EF4-FFF2-40B4-BE49-F238E27FC236}">
                    <a16:creationId xmlns:a16="http://schemas.microsoft.com/office/drawing/2014/main" id="{97A5F9A3-AE4A-92C0-4C72-BB794AE5C260}"/>
                  </a:ext>
                </a:extLst>
              </p:cNvPr>
              <p:cNvSpPr txBox="1"/>
              <p:nvPr/>
            </p:nvSpPr>
            <p:spPr>
              <a:xfrm>
                <a:off x="2416383" y="5169024"/>
                <a:ext cx="817106" cy="259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AU" sz="1067" i="1" dirty="0">
                    <a:solidFill>
                      <a:prstClr val="black"/>
                    </a:solidFill>
                    <a:latin typeface="Calibri" panose="020F0502020204030204"/>
                  </a:rPr>
                  <a:t>Savannah</a:t>
                </a:r>
                <a:endParaRPr lang="en-AU" sz="1067" i="1" dirty="0">
                  <a:solidFill>
                    <a:prstClr val="black"/>
                  </a:solidFill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  <p:sp>
            <p:nvSpPr>
              <p:cNvPr id="1036" name="TextBox 190">
                <a:extLst>
                  <a:ext uri="{FF2B5EF4-FFF2-40B4-BE49-F238E27FC236}">
                    <a16:creationId xmlns:a16="http://schemas.microsoft.com/office/drawing/2014/main" id="{6C314938-6854-3B2E-67B1-815C8CD72678}"/>
                  </a:ext>
                </a:extLst>
              </p:cNvPr>
              <p:cNvSpPr txBox="1"/>
              <p:nvPr/>
            </p:nvSpPr>
            <p:spPr>
              <a:xfrm>
                <a:off x="155921" y="4977265"/>
                <a:ext cx="2272869" cy="256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48386">
                  <a:lnSpc>
                    <a:spcPct val="107000"/>
                  </a:lnSpc>
                  <a:spcAft>
                    <a:spcPts val="610"/>
                  </a:spcAft>
                </a:pPr>
                <a:r>
                  <a:rPr lang="en-US" sz="1067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C</a:t>
                </a:r>
                <a:r>
                  <a:rPr lang="en-AU" sz="1067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LIMATE  REGIONS</a:t>
                </a:r>
              </a:p>
            </p:txBody>
          </p:sp>
        </p:grpSp>
        <p:pic>
          <p:nvPicPr>
            <p:cNvPr id="1040" name="Picture 11" descr="Coral reefs like the Great Barrier Reef off the coast of Queensland, Australia, support diverse marine populations in unique underwater ecosystems.">
              <a:extLst>
                <a:ext uri="{FF2B5EF4-FFF2-40B4-BE49-F238E27FC236}">
                  <a16:creationId xmlns:a16="http://schemas.microsoft.com/office/drawing/2014/main" id="{DE7FBB23-6827-7724-5ADC-7E3DA98B70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340" y="3891824"/>
              <a:ext cx="1002177" cy="675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91DE07C5-F3E5-FA5C-129C-C1BB69827541}"/>
              </a:ext>
            </a:extLst>
          </p:cNvPr>
          <p:cNvSpPr txBox="1"/>
          <p:nvPr/>
        </p:nvSpPr>
        <p:spPr>
          <a:xfrm>
            <a:off x="0" y="0"/>
            <a:ext cx="10732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2800" b="1" i="0" dirty="0">
                <a:solidFill>
                  <a:srgbClr val="003152"/>
                </a:solidFill>
                <a:effectLst/>
                <a:latin typeface="+mj-lt"/>
              </a:rPr>
              <a:t>Why downscaling?</a:t>
            </a:r>
            <a:endParaRPr lang="en-AU" sz="2800" b="1" i="1" dirty="0">
              <a:solidFill>
                <a:srgbClr val="003152"/>
              </a:solidFill>
              <a:effectLst/>
              <a:latin typeface="+mj-lt"/>
            </a:endParaRPr>
          </a:p>
        </p:txBody>
      </p:sp>
      <p:pic>
        <p:nvPicPr>
          <p:cNvPr id="1045" name="Graphic 1044" descr="Tornado with solid fill">
            <a:extLst>
              <a:ext uri="{FF2B5EF4-FFF2-40B4-BE49-F238E27FC236}">
                <a16:creationId xmlns:a16="http://schemas.microsoft.com/office/drawing/2014/main" id="{AB7702CF-DB69-8054-8CA8-172D1B0EBA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4167" y="3224444"/>
            <a:ext cx="714763" cy="714763"/>
          </a:xfrm>
          <a:prstGeom prst="rect">
            <a:avLst/>
          </a:prstGeom>
        </p:spPr>
      </p:pic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7F279B5A-8EC9-749F-755A-DD9B2CE13353}"/>
              </a:ext>
            </a:extLst>
          </p:cNvPr>
          <p:cNvGrpSpPr/>
          <p:nvPr/>
        </p:nvGrpSpPr>
        <p:grpSpPr>
          <a:xfrm>
            <a:off x="1136434" y="474881"/>
            <a:ext cx="5281951" cy="2625723"/>
            <a:chOff x="1136434" y="474881"/>
            <a:chExt cx="5281951" cy="2625723"/>
          </a:xfrm>
        </p:grpSpPr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6C7D2930-51AB-9894-4022-2D194E74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77917" y="776137"/>
              <a:ext cx="4878445" cy="2324467"/>
            </a:xfrm>
            <a:prstGeom prst="rect">
              <a:avLst/>
            </a:prstGeom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3F31BF16-01FD-04E3-A31D-5815DBEAC37F}"/>
                </a:ext>
              </a:extLst>
            </p:cNvPr>
            <p:cNvSpPr txBox="1"/>
            <p:nvPr/>
          </p:nvSpPr>
          <p:spPr>
            <a:xfrm>
              <a:off x="1136434" y="474881"/>
              <a:ext cx="5281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tx2"/>
                  </a:solidFill>
                  <a:latin typeface="+mj-lt"/>
                </a:rPr>
                <a:t>1) Global models do not represent well our climate</a:t>
              </a:r>
            </a:p>
          </p:txBody>
        </p:sp>
      </p:grpSp>
      <p:sp>
        <p:nvSpPr>
          <p:cNvPr id="1048" name="TextBox 1047">
            <a:extLst>
              <a:ext uri="{FF2B5EF4-FFF2-40B4-BE49-F238E27FC236}">
                <a16:creationId xmlns:a16="http://schemas.microsoft.com/office/drawing/2014/main" id="{C551EC6A-660A-53C9-301D-4DBA696D6176}"/>
              </a:ext>
            </a:extLst>
          </p:cNvPr>
          <p:cNvSpPr txBox="1"/>
          <p:nvPr/>
        </p:nvSpPr>
        <p:spPr>
          <a:xfrm>
            <a:off x="12098" y="2366313"/>
            <a:ext cx="2181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  <a:latin typeface="+mj-lt"/>
              </a:rPr>
              <a:t>3) QLD climate and features are unique</a:t>
            </a:r>
          </a:p>
        </p:txBody>
      </p: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4FF1F40E-5A98-CA91-8E7F-21952D3E78D1}"/>
              </a:ext>
            </a:extLst>
          </p:cNvPr>
          <p:cNvGrpSpPr/>
          <p:nvPr/>
        </p:nvGrpSpPr>
        <p:grpSpPr>
          <a:xfrm>
            <a:off x="7107688" y="186176"/>
            <a:ext cx="5084312" cy="6629400"/>
            <a:chOff x="7107688" y="186176"/>
            <a:chExt cx="5084312" cy="66294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050111-3DC8-DC65-8BAB-A229971F68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35"/>
            <a:stretch/>
          </p:blipFill>
          <p:spPr>
            <a:xfrm>
              <a:off x="7107688" y="186176"/>
              <a:ext cx="5084312" cy="6629400"/>
            </a:xfrm>
            <a:prstGeom prst="rect">
              <a:avLst/>
            </a:prstGeom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EA6AFDC9-308C-2D9D-DEFF-C828A22A60ED}"/>
                </a:ext>
              </a:extLst>
            </p:cNvPr>
            <p:cNvSpPr txBox="1"/>
            <p:nvPr/>
          </p:nvSpPr>
          <p:spPr>
            <a:xfrm>
              <a:off x="8789845" y="261610"/>
              <a:ext cx="32327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tx2"/>
                  </a:solidFill>
                  <a:latin typeface="+mj-lt"/>
                </a:rPr>
                <a:t>2) Global models misrepresent our landscapes and regional climate granularity</a:t>
              </a:r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2ACBE9AB-1A61-B8E5-0606-AE6DF0431494}"/>
              </a:ext>
            </a:extLst>
          </p:cNvPr>
          <p:cNvGrpSpPr/>
          <p:nvPr/>
        </p:nvGrpSpPr>
        <p:grpSpPr>
          <a:xfrm>
            <a:off x="3518664" y="3116619"/>
            <a:ext cx="3694862" cy="3698957"/>
            <a:chOff x="3518664" y="3116619"/>
            <a:chExt cx="3694862" cy="3698957"/>
          </a:xfrm>
        </p:grpSpPr>
        <p:grpSp>
          <p:nvGrpSpPr>
            <p:cNvPr id="1055" name="Group 1054">
              <a:extLst>
                <a:ext uri="{FF2B5EF4-FFF2-40B4-BE49-F238E27FC236}">
                  <a16:creationId xmlns:a16="http://schemas.microsoft.com/office/drawing/2014/main" id="{F7FB66CB-FEDF-2EC3-CAC1-24FA8618BFDF}"/>
                </a:ext>
              </a:extLst>
            </p:cNvPr>
            <p:cNvGrpSpPr/>
            <p:nvPr/>
          </p:nvGrpSpPr>
          <p:grpSpPr>
            <a:xfrm>
              <a:off x="3518664" y="3116619"/>
              <a:ext cx="3694862" cy="3698957"/>
              <a:chOff x="3518664" y="3116619"/>
              <a:chExt cx="3694862" cy="369895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29E4AFA-31EC-AB2A-5D5A-23CC013F2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9255" y="3677216"/>
                <a:ext cx="3368071" cy="3138360"/>
              </a:xfrm>
              <a:prstGeom prst="rect">
                <a:avLst/>
              </a:prstGeom>
            </p:spPr>
          </p:pic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313B6823-4D3C-AC26-F8E1-B50BEF77AFFD}"/>
                  </a:ext>
                </a:extLst>
              </p:cNvPr>
              <p:cNvSpPr txBox="1"/>
              <p:nvPr/>
            </p:nvSpPr>
            <p:spPr>
              <a:xfrm>
                <a:off x="3518664" y="3116619"/>
                <a:ext cx="36948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chemeClr val="tx2"/>
                    </a:solidFill>
                    <a:latin typeface="+mj-lt"/>
                  </a:rPr>
                  <a:t>4) Global models underestimate extremes and risks </a:t>
                </a:r>
              </a:p>
            </p:txBody>
          </p:sp>
        </p:grp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4BA9AA9E-ED10-4C8C-2D23-6BFC3DCC7D8C}"/>
                </a:ext>
              </a:extLst>
            </p:cNvPr>
            <p:cNvSpPr txBox="1"/>
            <p:nvPr/>
          </p:nvSpPr>
          <p:spPr>
            <a:xfrm>
              <a:off x="3606375" y="6220996"/>
              <a:ext cx="2229230" cy="46166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/>
                  </a:solidFill>
                  <a:latin typeface="+mj-lt"/>
                </a:rPr>
                <a:t>Precipitation Intensity(mm/day)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43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7DE8-3EF8-74A1-1885-96232EED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Downscaling improvements to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BA2D-A3B7-67BC-F4C5-A491321FB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8349"/>
            <a:ext cx="4119666" cy="5154526"/>
          </a:xfrm>
        </p:spPr>
        <p:txBody>
          <a:bodyPr>
            <a:normAutofit lnSpcReduction="10000"/>
          </a:bodyPr>
          <a:lstStyle/>
          <a:p>
            <a:r>
              <a:rPr lang="en-AU" dirty="0"/>
              <a:t>Downscaling improved performance in all regions of Queensland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Largest improvement along coasts, mountains, for extremes</a:t>
            </a:r>
          </a:p>
          <a:p>
            <a:endParaRPr lang="en-AU" dirty="0"/>
          </a:p>
          <a:p>
            <a:r>
              <a:rPr lang="en-AU" dirty="0"/>
              <a:t>Data available: </a:t>
            </a:r>
            <a:r>
              <a:rPr lang="en-AU" b="0" i="0" u="sng" dirty="0">
                <a:solidFill>
                  <a:srgbClr val="214F77"/>
                </a:solidFill>
                <a:effectLst/>
                <a:latin typeface="Helvetica Neue"/>
                <a:hlinkClick r:id="rId2"/>
              </a:rPr>
              <a:t>https://dx.doi.org/10.25914/8fve-1910</a:t>
            </a:r>
            <a:endParaRPr lang="en-AU" dirty="0"/>
          </a:p>
        </p:txBody>
      </p:sp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11CB94A9-0B76-2863-EE6F-B5C1A62E6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866" y="1144588"/>
            <a:ext cx="5911662" cy="492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7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2612-F4C0-4E37-A101-FAF461B1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CMIP6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5C395-3FBC-26FA-77C3-47675FD2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4244788" cy="4789400"/>
          </a:xfrm>
        </p:spPr>
        <p:txBody>
          <a:bodyPr/>
          <a:lstStyle/>
          <a:p>
            <a:r>
              <a:rPr lang="en-AU" dirty="0"/>
              <a:t>Three climate change scenarios (SSP126, 245, 370)</a:t>
            </a:r>
          </a:p>
          <a:p>
            <a:r>
              <a:rPr lang="en-AU" dirty="0"/>
              <a:t>15 simulations per scenario</a:t>
            </a:r>
          </a:p>
          <a:p>
            <a:r>
              <a:rPr lang="en-AU" dirty="0"/>
              <a:t>Multiple regions</a:t>
            </a:r>
          </a:p>
          <a:p>
            <a:pPr lvl="1"/>
            <a:r>
              <a:rPr lang="en-AU" dirty="0"/>
              <a:t>LGAs</a:t>
            </a:r>
          </a:p>
          <a:p>
            <a:pPr lvl="1"/>
            <a:r>
              <a:rPr lang="en-AU" dirty="0"/>
              <a:t>NRMs</a:t>
            </a:r>
          </a:p>
          <a:p>
            <a:pPr lvl="1"/>
            <a:r>
              <a:rPr lang="en-AU" dirty="0"/>
              <a:t>River basins</a:t>
            </a:r>
          </a:p>
          <a:p>
            <a:pPr lvl="1"/>
            <a:r>
              <a:rPr lang="en-AU" dirty="0"/>
              <a:t>etc</a:t>
            </a:r>
          </a:p>
          <a:p>
            <a:r>
              <a:rPr lang="en-AU" dirty="0"/>
              <a:t>Multiple indices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36EB5-88A7-E2A4-8F29-23AB0264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171" y="161365"/>
            <a:ext cx="6427245" cy="5842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82EAE5-512B-1D2D-FA63-DB2851055CB8}"/>
              </a:ext>
            </a:extLst>
          </p:cNvPr>
          <p:cNvSpPr txBox="1"/>
          <p:nvPr/>
        </p:nvSpPr>
        <p:spPr>
          <a:xfrm>
            <a:off x="6621646" y="5634983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3"/>
              </a:rPr>
              <a:t>https://longpaddock.qld.gov.au/qld-future-climate/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560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860B-71A9-6DFB-59BE-F707F496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1F4C0-A05D-F364-AABF-166EA1825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Import climate data into R</a:t>
            </a:r>
          </a:p>
          <a:p>
            <a:pPr lvl="1"/>
            <a:r>
              <a:rPr lang="en-AU" dirty="0"/>
              <a:t>Three models (ACCESS-ESM1-5, EC-Earth3, GFDL-ESM4)</a:t>
            </a:r>
          </a:p>
          <a:p>
            <a:pPr lvl="1"/>
            <a:r>
              <a:rPr lang="en-AU" dirty="0"/>
              <a:t>One climate scenario (SSP370)</a:t>
            </a:r>
          </a:p>
          <a:p>
            <a:endParaRPr lang="en-AU" dirty="0"/>
          </a:p>
          <a:p>
            <a:r>
              <a:rPr lang="en-AU" dirty="0"/>
              <a:t>Plot the data</a:t>
            </a:r>
          </a:p>
          <a:p>
            <a:endParaRPr lang="en-AU" dirty="0"/>
          </a:p>
          <a:p>
            <a:r>
              <a:rPr lang="en-AU" dirty="0"/>
              <a:t>Calculate climate change impacts</a:t>
            </a:r>
          </a:p>
          <a:p>
            <a:endParaRPr lang="en-AU" dirty="0"/>
          </a:p>
          <a:p>
            <a:r>
              <a:rPr lang="en-AU" dirty="0"/>
              <a:t>Calculate bioclimatic indices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7608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2F16-BDDC-1552-565A-152425FC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What does a more realistic workflow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9618-4555-20F8-DE05-E477030E0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Find your data</a:t>
            </a:r>
          </a:p>
          <a:p>
            <a:endParaRPr lang="en-AU" dirty="0"/>
          </a:p>
          <a:p>
            <a:r>
              <a:rPr lang="en-AU" dirty="0"/>
              <a:t>Evaluate against observations</a:t>
            </a:r>
          </a:p>
          <a:p>
            <a:pPr lvl="1"/>
            <a:r>
              <a:rPr lang="en-AU" dirty="0">
                <a:effectLst/>
              </a:rPr>
              <a:t>Chapman, S., Syktus, J., Trancoso, R., Thatcher, M., Toombs, N., Wong, K. K.-H., &amp; Takbash, A. (2023). Evaluation of Dynamically Downscaled CMIP6-CCAM Models Over Australia. </a:t>
            </a:r>
            <a:r>
              <a:rPr lang="en-AU" i="1" dirty="0">
                <a:effectLst/>
              </a:rPr>
              <a:t>Earth’s Future</a:t>
            </a:r>
            <a:r>
              <a:rPr lang="en-AU" dirty="0">
                <a:effectLst/>
              </a:rPr>
              <a:t>, </a:t>
            </a:r>
            <a:r>
              <a:rPr lang="en-AU" i="1" dirty="0">
                <a:effectLst/>
              </a:rPr>
              <a:t>11</a:t>
            </a:r>
            <a:r>
              <a:rPr lang="en-AU" dirty="0">
                <a:effectLst/>
              </a:rPr>
              <a:t>(11), e2023EF003548. </a:t>
            </a:r>
            <a:r>
              <a:rPr lang="en-AU" dirty="0">
                <a:effectLst/>
                <a:hlinkClick r:id="rId2"/>
              </a:rPr>
              <a:t>https://doi.org/10.1029/2023EF003548</a:t>
            </a:r>
            <a:endParaRPr lang="en-AU" dirty="0">
              <a:effectLst/>
            </a:endParaRP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Bias correct</a:t>
            </a:r>
          </a:p>
          <a:p>
            <a:pPr lvl="1"/>
            <a:r>
              <a:rPr lang="en-AU" dirty="0"/>
              <a:t>Tomorrow you will be using bioclimatic indices our team prepared. This dataset has been statistically downscaled (5 km) and bias corrected</a:t>
            </a:r>
          </a:p>
          <a:p>
            <a:endParaRPr lang="en-AU" dirty="0"/>
          </a:p>
          <a:p>
            <a:r>
              <a:rPr lang="en-AU" dirty="0"/>
              <a:t>Evaluate some more</a:t>
            </a:r>
          </a:p>
          <a:p>
            <a:endParaRPr lang="en-AU" dirty="0"/>
          </a:p>
          <a:p>
            <a:r>
              <a:rPr lang="en-AU" dirty="0"/>
              <a:t>Calculate your indices</a:t>
            </a:r>
          </a:p>
        </p:txBody>
      </p:sp>
    </p:spTree>
    <p:extLst>
      <p:ext uri="{BB962C8B-B14F-4D97-AF65-F5344CB8AC3E}">
        <p14:creationId xmlns:p14="http://schemas.microsoft.com/office/powerpoint/2010/main" val="52680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4DDE-8310-D8CD-D32A-105F7D15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DC2066-8FA7-9560-BE62-7D51F06E9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5995"/>
            <a:ext cx="10515600" cy="779463"/>
          </a:xfrm>
        </p:spPr>
        <p:txBody>
          <a:bodyPr/>
          <a:lstStyle/>
          <a:p>
            <a:r>
              <a:rPr lang="en-AU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9380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AF42-6484-F70A-B49F-4B8CC92A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Getting started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ECFD3-E895-E743-E134-850D034D1CCB}"/>
              </a:ext>
            </a:extLst>
          </p:cNvPr>
          <p:cNvSpPr txBox="1"/>
          <p:nvPr/>
        </p:nvSpPr>
        <p:spPr>
          <a:xfrm>
            <a:off x="3048000" y="13902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2"/>
              </a:rPr>
              <a:t>https://github.com/sdesrosiers1989/ICCB_Projections</a:t>
            </a:r>
            <a:endParaRPr lang="en-AU" dirty="0"/>
          </a:p>
        </p:txBody>
      </p:sp>
      <p:pic>
        <p:nvPicPr>
          <p:cNvPr id="5" name="Picture 2" descr="GitHub Download PNG Image | PNG Mart">
            <a:extLst>
              <a:ext uri="{FF2B5EF4-FFF2-40B4-BE49-F238E27FC236}">
                <a16:creationId xmlns:a16="http://schemas.microsoft.com/office/drawing/2014/main" id="{8301279F-6FAC-71AD-80BC-5B4C30A5A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060" y="1144588"/>
            <a:ext cx="1290918" cy="86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3BEB5B-68AF-05CC-78B5-DDD09101E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155" y="2250840"/>
            <a:ext cx="87344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80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39FF-FE9A-0484-8378-65E52C3C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Prepare your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56F03-4971-D04C-6216-D9AAA874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8349"/>
            <a:ext cx="3337874" cy="5154526"/>
          </a:xfrm>
        </p:spPr>
        <p:txBody>
          <a:bodyPr/>
          <a:lstStyle/>
          <a:p>
            <a:r>
              <a:rPr lang="en-AU" dirty="0"/>
              <a:t>Unzip the folder</a:t>
            </a:r>
          </a:p>
          <a:p>
            <a:r>
              <a:rPr lang="en-AU" dirty="0"/>
              <a:t>Move it to wherever you want it (make sure you can find it!)</a:t>
            </a:r>
          </a:p>
          <a:p>
            <a:endParaRPr lang="en-AU" dirty="0"/>
          </a:p>
          <a:p>
            <a:r>
              <a:rPr lang="en-AU" dirty="0"/>
              <a:t>Open RStudio</a:t>
            </a:r>
          </a:p>
          <a:p>
            <a:endParaRPr lang="en-AU" dirty="0"/>
          </a:p>
          <a:p>
            <a:r>
              <a:rPr lang="en-AU" dirty="0"/>
              <a:t>In RStudio, open the script ‘</a:t>
            </a:r>
            <a:r>
              <a:rPr lang="en-AU" dirty="0" err="1"/>
              <a:t>ICCB_Training.R</a:t>
            </a:r>
            <a:r>
              <a:rPr lang="en-AU" dirty="0"/>
              <a:t>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12AD5-E190-AFCF-E11D-7E783F69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710" b="38007"/>
          <a:stretch/>
        </p:blipFill>
        <p:spPr>
          <a:xfrm>
            <a:off x="4283465" y="1144588"/>
            <a:ext cx="6613921" cy="425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13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8C62-3957-41EE-F68C-6ACC5B6C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Set your 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CDEC-AD01-33A2-A6F2-F078D84B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3648959" cy="5154526"/>
          </a:xfrm>
        </p:spPr>
        <p:txBody>
          <a:bodyPr>
            <a:normAutofit fontScale="92500"/>
          </a:bodyPr>
          <a:lstStyle/>
          <a:p>
            <a:r>
              <a:rPr lang="en-AU" dirty="0"/>
              <a:t>Install any packages you are missing (code at the beginning of the script)</a:t>
            </a:r>
          </a:p>
          <a:p>
            <a:r>
              <a:rPr lang="en-AU" dirty="0"/>
              <a:t>Import your packages</a:t>
            </a:r>
          </a:p>
          <a:p>
            <a:endParaRPr lang="en-AU" dirty="0"/>
          </a:p>
          <a:p>
            <a:r>
              <a:rPr lang="en-AU" dirty="0"/>
              <a:t>Change wd to where you put the data</a:t>
            </a:r>
          </a:p>
          <a:p>
            <a:r>
              <a:rPr lang="en-AU" i="1" dirty="0" err="1"/>
              <a:t>dir</a:t>
            </a:r>
            <a:r>
              <a:rPr lang="en-AU" i="1" dirty="0"/>
              <a:t>()</a:t>
            </a:r>
            <a:r>
              <a:rPr lang="en-AU" dirty="0"/>
              <a:t> should now show you the data files</a:t>
            </a:r>
            <a:endParaRPr lang="en-AU" i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CEB985-2C6D-4033-B695-8665393002A5}"/>
              </a:ext>
            </a:extLst>
          </p:cNvPr>
          <p:cNvGrpSpPr/>
          <p:nvPr/>
        </p:nvGrpSpPr>
        <p:grpSpPr>
          <a:xfrm>
            <a:off x="4301766" y="2316801"/>
            <a:ext cx="6645397" cy="4109636"/>
            <a:chOff x="4053526" y="1545995"/>
            <a:chExt cx="6806153" cy="41760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8FC7EA-09E6-8DD3-D50B-4CE86B63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050" b="39107"/>
            <a:stretch/>
          </p:blipFill>
          <p:spPr>
            <a:xfrm>
              <a:off x="4368306" y="1545995"/>
              <a:ext cx="6491373" cy="4176074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8CE19D-EF56-2470-6E70-1B1FE4E41E37}"/>
                </a:ext>
              </a:extLst>
            </p:cNvPr>
            <p:cNvCxnSpPr/>
            <p:nvPr/>
          </p:nvCxnSpPr>
          <p:spPr>
            <a:xfrm>
              <a:off x="4053526" y="3277005"/>
              <a:ext cx="763571" cy="0"/>
            </a:xfrm>
            <a:prstGeom prst="straightConnector1">
              <a:avLst/>
            </a:prstGeom>
            <a:ln w="1905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307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7D29-8910-BDD0-855B-A606CCA6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Datasets -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ACD1-2DCE-4155-7125-4E2DF64CE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4759411" cy="4789400"/>
          </a:xfrm>
        </p:spPr>
        <p:txBody>
          <a:bodyPr/>
          <a:lstStyle/>
          <a:p>
            <a:r>
              <a:rPr lang="en-AU" dirty="0"/>
              <a:t>Annual temperature and precipitation for Queensland for 3 climate models for SSP370 1981 - 2100</a:t>
            </a:r>
          </a:p>
          <a:p>
            <a:pPr lvl="1"/>
            <a:r>
              <a:rPr lang="en-AU" dirty="0"/>
              <a:t>ACCESS-ESM1-5 – a dry model</a:t>
            </a:r>
          </a:p>
          <a:p>
            <a:pPr lvl="1"/>
            <a:r>
              <a:rPr lang="en-AU" dirty="0"/>
              <a:t>EC-Earth3 – a wet model</a:t>
            </a:r>
          </a:p>
          <a:p>
            <a:pPr lvl="1"/>
            <a:r>
              <a:rPr lang="en-AU" dirty="0"/>
              <a:t>GFDL-ESM4 – in the middle (this is the model we’re starting with)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A2A31C-CB5A-5EC3-2609-AC250951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214" y="1144588"/>
            <a:ext cx="6109104" cy="429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0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D5AC-CC12-67F1-F598-B1067C27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Datasets – climate change scenarios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D7251B-339D-9F63-4F04-A7B918AC8CF4}"/>
              </a:ext>
            </a:extLst>
          </p:cNvPr>
          <p:cNvSpPr txBox="1"/>
          <p:nvPr/>
        </p:nvSpPr>
        <p:spPr>
          <a:xfrm>
            <a:off x="821943" y="1206494"/>
            <a:ext cx="4970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B050"/>
                </a:solidFill>
              </a:rPr>
              <a:t>SSP1-2.6</a:t>
            </a:r>
            <a:r>
              <a:rPr lang="en-AU" sz="2000" dirty="0">
                <a:solidFill>
                  <a:schemeClr val="tx2"/>
                </a:solidFill>
              </a:rPr>
              <a:t>: Sustainability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FFC000"/>
                </a:solidFill>
              </a:rPr>
              <a:t>SSP2-4.5</a:t>
            </a:r>
            <a:r>
              <a:rPr lang="en-AU" sz="2000" dirty="0">
                <a:solidFill>
                  <a:schemeClr val="tx2"/>
                </a:solidFill>
              </a:rPr>
              <a:t>: Middle of the road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FF0000"/>
                </a:solidFill>
              </a:rPr>
              <a:t>SSP3-7.0</a:t>
            </a:r>
            <a:r>
              <a:rPr lang="en-AU" sz="2000" dirty="0">
                <a:solidFill>
                  <a:schemeClr val="tx2"/>
                </a:solidFill>
              </a:rPr>
              <a:t>: Regional rivalry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B3F6A9-7EB4-5529-D614-1E2CE0F30B2D}"/>
              </a:ext>
            </a:extLst>
          </p:cNvPr>
          <p:cNvGrpSpPr/>
          <p:nvPr/>
        </p:nvGrpSpPr>
        <p:grpSpPr>
          <a:xfrm>
            <a:off x="5792736" y="1066526"/>
            <a:ext cx="5856367" cy="4314455"/>
            <a:chOff x="394648" y="2242022"/>
            <a:chExt cx="5856367" cy="4314455"/>
          </a:xfrm>
        </p:grpSpPr>
        <p:pic>
          <p:nvPicPr>
            <p:cNvPr id="28" name="Picture 2" descr="The SSP Scenarios — English">
              <a:extLst>
                <a:ext uri="{FF2B5EF4-FFF2-40B4-BE49-F238E27FC236}">
                  <a16:creationId xmlns:a16="http://schemas.microsoft.com/office/drawing/2014/main" id="{72F59E6F-4F82-2304-C477-A727D81C4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7634" y="2242022"/>
              <a:ext cx="2963381" cy="2242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The SSP Scenarios — English">
              <a:extLst>
                <a:ext uri="{FF2B5EF4-FFF2-40B4-BE49-F238E27FC236}">
                  <a16:creationId xmlns:a16="http://schemas.microsoft.com/office/drawing/2014/main" id="{2B7EA2EF-7BEF-0994-BEB7-B4254AC5E3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057" y="2273776"/>
              <a:ext cx="2680966" cy="2108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6">
              <a:extLst>
                <a:ext uri="{FF2B5EF4-FFF2-40B4-BE49-F238E27FC236}">
                  <a16:creationId xmlns:a16="http://schemas.microsoft.com/office/drawing/2014/main" id="{DF82BB21-3C44-91B5-C3F9-0AC1B3DDC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648" y="4490146"/>
              <a:ext cx="2705323" cy="2011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5263318-E575-B9A4-0CD1-4679F970A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94398" y="4382006"/>
              <a:ext cx="3056617" cy="2174471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D69BF9-3B31-B725-77A3-D5B8772EF8C4}"/>
                </a:ext>
              </a:extLst>
            </p:cNvPr>
            <p:cNvSpPr/>
            <p:nvPr/>
          </p:nvSpPr>
          <p:spPr>
            <a:xfrm>
              <a:off x="4641741" y="5358539"/>
              <a:ext cx="437827" cy="1197938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BBFFDB6-A721-F989-85E0-9EBFEA4D078D}"/>
                </a:ext>
              </a:extLst>
            </p:cNvPr>
            <p:cNvSpPr/>
            <p:nvPr/>
          </p:nvSpPr>
          <p:spPr>
            <a:xfrm>
              <a:off x="4126323" y="5673720"/>
              <a:ext cx="420991" cy="882757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E3C9B8B-D93B-DB30-2253-F38B851B3BCE}"/>
                </a:ext>
              </a:extLst>
            </p:cNvPr>
            <p:cNvSpPr/>
            <p:nvPr/>
          </p:nvSpPr>
          <p:spPr>
            <a:xfrm>
              <a:off x="5173995" y="4974956"/>
              <a:ext cx="437827" cy="158152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5C1B875-6493-C8BD-6B1F-25ACFB0812FD}"/>
                </a:ext>
              </a:extLst>
            </p:cNvPr>
            <p:cNvSpPr/>
            <p:nvPr/>
          </p:nvSpPr>
          <p:spPr>
            <a:xfrm>
              <a:off x="5709513" y="4729566"/>
              <a:ext cx="437827" cy="1826911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924501-2252-5AC6-930E-0A9BEF8CC6D4}"/>
              </a:ext>
            </a:extLst>
          </p:cNvPr>
          <p:cNvGrpSpPr/>
          <p:nvPr/>
        </p:nvGrpSpPr>
        <p:grpSpPr>
          <a:xfrm>
            <a:off x="505860" y="2326306"/>
            <a:ext cx="4970794" cy="3713474"/>
            <a:chOff x="6709764" y="1771717"/>
            <a:chExt cx="5239053" cy="3925071"/>
          </a:xfrm>
        </p:grpSpPr>
        <p:pic>
          <p:nvPicPr>
            <p:cNvPr id="37" name="Picture 36" descr="Graphical user interface, application, Teams&#10;&#10;Description automatically generated">
              <a:extLst>
                <a:ext uri="{FF2B5EF4-FFF2-40B4-BE49-F238E27FC236}">
                  <a16:creationId xmlns:a16="http://schemas.microsoft.com/office/drawing/2014/main" id="{54560FD8-B65B-18BF-CFD7-FBADE76CC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9764" y="1771717"/>
              <a:ext cx="5239053" cy="3902003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141E36E-FE7A-ADE8-3320-D70E2BA9ECCD}"/>
                </a:ext>
              </a:extLst>
            </p:cNvPr>
            <p:cNvSpPr/>
            <p:nvPr/>
          </p:nvSpPr>
          <p:spPr>
            <a:xfrm>
              <a:off x="7375801" y="5210876"/>
              <a:ext cx="674212" cy="455094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FAD6D02-C00C-5E98-F11B-2BB3197A5B2A}"/>
                </a:ext>
              </a:extLst>
            </p:cNvPr>
            <p:cNvSpPr/>
            <p:nvPr/>
          </p:nvSpPr>
          <p:spPr>
            <a:xfrm>
              <a:off x="8109388" y="5207001"/>
              <a:ext cx="674212" cy="455094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2CC309-8647-9B61-AD30-1AABE05FBDA4}"/>
                </a:ext>
              </a:extLst>
            </p:cNvPr>
            <p:cNvSpPr/>
            <p:nvPr/>
          </p:nvSpPr>
          <p:spPr>
            <a:xfrm>
              <a:off x="8831350" y="5209631"/>
              <a:ext cx="674212" cy="45509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CD34B5A-E29A-31DD-EAA8-6C9096982D70}"/>
                </a:ext>
              </a:extLst>
            </p:cNvPr>
            <p:cNvSpPr/>
            <p:nvPr/>
          </p:nvSpPr>
          <p:spPr>
            <a:xfrm>
              <a:off x="11242145" y="3638227"/>
              <a:ext cx="680971" cy="263471"/>
            </a:xfrm>
            <a:prstGeom prst="rect">
              <a:avLst/>
            </a:prstGeom>
            <a:noFill/>
            <a:ln w="1905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03ECA3-C6CC-5097-4731-084DB8AF5792}"/>
                </a:ext>
              </a:extLst>
            </p:cNvPr>
            <p:cNvSpPr/>
            <p:nvPr/>
          </p:nvSpPr>
          <p:spPr>
            <a:xfrm>
              <a:off x="11242145" y="2380282"/>
              <a:ext cx="680971" cy="263471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FDD05D7-4459-D4F4-54CB-98A467EB6D9B}"/>
                </a:ext>
              </a:extLst>
            </p:cNvPr>
            <p:cNvSpPr/>
            <p:nvPr/>
          </p:nvSpPr>
          <p:spPr>
            <a:xfrm>
              <a:off x="8852012" y="2870678"/>
              <a:ext cx="645800" cy="22123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A1F3FD6-1D4D-757F-779B-B37C407BAB7E}"/>
                </a:ext>
              </a:extLst>
            </p:cNvPr>
            <p:cNvSpPr/>
            <p:nvPr/>
          </p:nvSpPr>
          <p:spPr>
            <a:xfrm>
              <a:off x="8123594" y="3659345"/>
              <a:ext cx="645800" cy="221234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rgbClr val="FFC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7C9A9A4-CEFD-D328-4040-27444DB553A1}"/>
                </a:ext>
              </a:extLst>
            </p:cNvPr>
            <p:cNvSpPr/>
            <p:nvPr/>
          </p:nvSpPr>
          <p:spPr>
            <a:xfrm>
              <a:off x="7390007" y="4262943"/>
              <a:ext cx="645800" cy="221234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434A6FC-AEF6-EA90-AB32-49D17EC8B635}"/>
                </a:ext>
              </a:extLst>
            </p:cNvPr>
            <p:cNvSpPr/>
            <p:nvPr/>
          </p:nvSpPr>
          <p:spPr>
            <a:xfrm>
              <a:off x="10310759" y="5241694"/>
              <a:ext cx="674212" cy="455094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CDC9118-10F6-444E-BDAD-E071185319B8}"/>
                </a:ext>
              </a:extLst>
            </p:cNvPr>
            <p:cNvSpPr/>
            <p:nvPr/>
          </p:nvSpPr>
          <p:spPr>
            <a:xfrm>
              <a:off x="10310759" y="2401400"/>
              <a:ext cx="645800" cy="221234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8AFA258-D476-341C-93A2-75EF9CFF6D9F}"/>
              </a:ext>
            </a:extLst>
          </p:cNvPr>
          <p:cNvSpPr/>
          <p:nvPr/>
        </p:nvSpPr>
        <p:spPr>
          <a:xfrm>
            <a:off x="1137793" y="1880075"/>
            <a:ext cx="3314566" cy="34208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746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3C76-1D1B-FAB4-7595-695D0B72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1: What does your data look like?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FF772-876A-D898-2C11-82D4A74E7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2"/>
          <a:stretch/>
        </p:blipFill>
        <p:spPr>
          <a:xfrm>
            <a:off x="3632675" y="1144588"/>
            <a:ext cx="4374734" cy="469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9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7D57-56E2-4BA5-9556-2D28DD03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4E46-4220-769E-AD76-F882003ED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10813716" cy="4789400"/>
          </a:xfrm>
        </p:spPr>
        <p:txBody>
          <a:bodyPr>
            <a:normAutofit/>
          </a:bodyPr>
          <a:lstStyle/>
          <a:p>
            <a:r>
              <a:rPr lang="en-AU" dirty="0"/>
              <a:t>Can you modify this plot? Add a title, modify the colours</a:t>
            </a:r>
            <a:endParaRPr lang="en-AU" i="1" dirty="0"/>
          </a:p>
          <a:p>
            <a:endParaRPr lang="en-AU" dirty="0"/>
          </a:p>
          <a:p>
            <a:r>
              <a:rPr lang="en-AU" dirty="0"/>
              <a:t>Can you plot the other models? How do they compare to this one? </a:t>
            </a:r>
          </a:p>
          <a:p>
            <a:endParaRPr lang="en-AU" dirty="0"/>
          </a:p>
          <a:p>
            <a:r>
              <a:rPr lang="en-AU" dirty="0"/>
              <a:t>Hints:</a:t>
            </a:r>
          </a:p>
          <a:p>
            <a:pPr lvl="1"/>
            <a:r>
              <a:rPr lang="en-AU" i="1" dirty="0"/>
              <a:t>plot(main = “title”)</a:t>
            </a:r>
          </a:p>
          <a:p>
            <a:pPr lvl="1"/>
            <a:r>
              <a:rPr lang="en-AU" i="1" dirty="0"/>
              <a:t>plot(col=</a:t>
            </a:r>
            <a:r>
              <a:rPr lang="en-AU" i="1" dirty="0" err="1"/>
              <a:t>brewer.pal</a:t>
            </a:r>
            <a:r>
              <a:rPr lang="en-AU" i="1" dirty="0"/>
              <a:t>(11, “</a:t>
            </a:r>
            <a:r>
              <a:rPr lang="en-AU" i="1" dirty="0" err="1"/>
              <a:t>YlOrRd</a:t>
            </a:r>
            <a:r>
              <a:rPr lang="en-AU" i="1" dirty="0"/>
              <a:t>”). </a:t>
            </a:r>
            <a:r>
              <a:rPr lang="en-AU" dirty="0"/>
              <a:t>See </a:t>
            </a:r>
            <a:r>
              <a:rPr lang="en-AU" dirty="0">
                <a:hlinkClick r:id="rId2"/>
              </a:rPr>
              <a:t>https://colorbrewer2.org/</a:t>
            </a:r>
            <a:r>
              <a:rPr lang="en-AU" dirty="0"/>
              <a:t> for ideas!</a:t>
            </a:r>
          </a:p>
          <a:p>
            <a:pPr lvl="1"/>
            <a:r>
              <a:rPr lang="en-AU" dirty="0"/>
              <a:t>plot multi-panel figures using </a:t>
            </a:r>
            <a:r>
              <a:rPr lang="en-AU" i="1" dirty="0"/>
              <a:t>par(</a:t>
            </a:r>
            <a:r>
              <a:rPr lang="en-AU" i="1" dirty="0" err="1"/>
              <a:t>mfrow</a:t>
            </a:r>
            <a:r>
              <a:rPr lang="en-AU" i="1" dirty="0"/>
              <a:t> = c(</a:t>
            </a:r>
            <a:r>
              <a:rPr lang="en-AU" i="1" dirty="0" err="1"/>
              <a:t>nrows</a:t>
            </a:r>
            <a:r>
              <a:rPr lang="en-AU" i="1" dirty="0"/>
              <a:t>, </a:t>
            </a:r>
            <a:r>
              <a:rPr lang="en-AU" i="1" dirty="0" err="1"/>
              <a:t>ncols</a:t>
            </a:r>
            <a:r>
              <a:rPr lang="en-AU" i="1" dirty="0"/>
              <a:t>))</a:t>
            </a:r>
          </a:p>
          <a:p>
            <a:pPr lvl="1"/>
            <a:r>
              <a:rPr lang="en-AU" dirty="0"/>
              <a:t>R is widely used – there’s lot of information on the internet!</a:t>
            </a:r>
          </a:p>
        </p:txBody>
      </p:sp>
    </p:spTree>
    <p:extLst>
      <p:ext uri="{BB962C8B-B14F-4D97-AF65-F5344CB8AC3E}">
        <p14:creationId xmlns:p14="http://schemas.microsoft.com/office/powerpoint/2010/main" val="1357770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B6AB1-04C9-1106-B782-60ECFFB8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8F1F7-622C-B371-3D48-CC6D7470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does your data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2DC78-BFC8-142D-196C-3861D2134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96" y="997721"/>
            <a:ext cx="5060222" cy="486255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0CB625-0FB5-CD09-41C3-773E8FCD6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349"/>
            <a:ext cx="4759411" cy="4789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Do these values make sense?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Want to customize your plot further?</a:t>
            </a:r>
          </a:p>
          <a:p>
            <a:pPr marL="0" indent="0">
              <a:buNone/>
            </a:pPr>
            <a:r>
              <a:rPr lang="en-AU" dirty="0">
                <a:hlinkClick r:id="rId3"/>
              </a:rPr>
              <a:t>https://ggplot2.tidyverse.org/articles/ggplot2.html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ggplot2 is a very popular package. You’ll find many examples online!</a:t>
            </a:r>
          </a:p>
        </p:txBody>
      </p:sp>
    </p:spTree>
    <p:extLst>
      <p:ext uri="{BB962C8B-B14F-4D97-AF65-F5344CB8AC3E}">
        <p14:creationId xmlns:p14="http://schemas.microsoft.com/office/powerpoint/2010/main" val="862734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6CCD-0A9E-4830-7E84-68B7AC4A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2: What does your data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0F36-ACF8-E5C2-E36C-5C10F9FE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096"/>
            <a:ext cx="6257537" cy="2667394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Do these values make sense?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does the ensemble mean compare to the values for individual models?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7BFE2-9E93-B8E2-A82B-3767A5E06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451" y="1144588"/>
            <a:ext cx="3998237" cy="46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16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0982-7B03-9F98-0317-5847BBC8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EE895-A49F-E4A5-5354-8D5D6C74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Can you modify this plot? Add a title and change the colours.</a:t>
            </a:r>
          </a:p>
          <a:p>
            <a:endParaRPr lang="en-AU" dirty="0"/>
          </a:p>
          <a:p>
            <a:r>
              <a:rPr lang="en-AU" dirty="0"/>
              <a:t>Can you plot multiple models on one figure? Is that helpful?</a:t>
            </a:r>
          </a:p>
          <a:p>
            <a:endParaRPr lang="en-AU" dirty="0"/>
          </a:p>
          <a:p>
            <a:r>
              <a:rPr lang="en-AU" dirty="0"/>
              <a:t>What do the other scenarios look like? SSP126 and SSP245 are in the </a:t>
            </a:r>
            <a:r>
              <a:rPr lang="en-AU"/>
              <a:t>data folder. </a:t>
            </a:r>
            <a:r>
              <a:rPr lang="en-AU" dirty="0"/>
              <a:t>Try plotting them!</a:t>
            </a:r>
          </a:p>
          <a:p>
            <a:endParaRPr lang="en-AU" dirty="0"/>
          </a:p>
          <a:p>
            <a:r>
              <a:rPr lang="en-AU" dirty="0"/>
              <a:t>There’s lots of information available online:</a:t>
            </a:r>
          </a:p>
          <a:p>
            <a:pPr lvl="1"/>
            <a:r>
              <a:rPr lang="en-AU" dirty="0">
                <a:hlinkClick r:id="rId2"/>
              </a:rPr>
              <a:t>https://oscarperpinan.github.io/rastervis/#levelplot</a:t>
            </a:r>
            <a:endParaRPr lang="en-AU" dirty="0"/>
          </a:p>
          <a:p>
            <a:pPr lvl="1"/>
            <a:r>
              <a:rPr lang="en-AU" dirty="0">
                <a:hlinkClick r:id="rId3"/>
              </a:rPr>
              <a:t>https://colorbrewer2.org/</a:t>
            </a:r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708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1F30-81BE-70A8-4C81-1623F4D5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 3: Bioclimatic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8EE3-E1A0-9CFA-1224-46D93CEAA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Indices relevant to species which are derived from monthly rainfall and temperature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CB1090-399F-3942-DF8D-B464CE7DADB8}"/>
              </a:ext>
            </a:extLst>
          </p:cNvPr>
          <p:cNvSpPr txBox="1">
            <a:spLocks/>
          </p:cNvSpPr>
          <p:nvPr/>
        </p:nvSpPr>
        <p:spPr>
          <a:xfrm>
            <a:off x="701216" y="2164160"/>
            <a:ext cx="5502529" cy="3981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AU" sz="1600" b="1" dirty="0"/>
              <a:t>BIO1</a:t>
            </a:r>
            <a:r>
              <a:rPr lang="en-AU" sz="1600" dirty="0"/>
              <a:t> = Annual Mean Temperature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BIO2</a:t>
            </a:r>
            <a:r>
              <a:rPr lang="en-AU" sz="1600" dirty="0"/>
              <a:t> = Mean Diurnal Range (Mean of monthly (max temp - min temp))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BIO3</a:t>
            </a:r>
            <a:r>
              <a:rPr lang="en-AU" sz="1600" dirty="0"/>
              <a:t> = </a:t>
            </a:r>
            <a:r>
              <a:rPr lang="en-AU" sz="1600" dirty="0" err="1"/>
              <a:t>Isothermality</a:t>
            </a:r>
            <a:r>
              <a:rPr lang="en-AU" sz="1600" dirty="0"/>
              <a:t> (BIO2/BIO7) (×100)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BIO4</a:t>
            </a:r>
            <a:r>
              <a:rPr lang="en-AU" sz="1600" dirty="0"/>
              <a:t> = Temperature Seasonality (standard deviation ×100)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BIO5</a:t>
            </a:r>
            <a:r>
              <a:rPr lang="en-AU" sz="1600" dirty="0"/>
              <a:t> = Max Temperature of Warmest Month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BIO6</a:t>
            </a:r>
            <a:r>
              <a:rPr lang="en-AU" sz="1600" dirty="0"/>
              <a:t> = Min Temperature of Coldest Month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BIO7 </a:t>
            </a:r>
            <a:r>
              <a:rPr lang="en-AU" sz="1600" dirty="0"/>
              <a:t>= Temperature Annual Range (BIO5-BIO6)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BIO8 </a:t>
            </a:r>
            <a:r>
              <a:rPr lang="en-AU" sz="1600" dirty="0"/>
              <a:t>= Mean Temperature of Wettest Quarter</a:t>
            </a:r>
          </a:p>
          <a:p>
            <a:pPr>
              <a:lnSpc>
                <a:spcPct val="100000"/>
              </a:lnSpc>
            </a:pPr>
            <a:r>
              <a:rPr lang="en-AU" sz="1600" b="1" dirty="0"/>
              <a:t>BIO9</a:t>
            </a:r>
            <a:r>
              <a:rPr lang="en-AU" sz="1600" dirty="0"/>
              <a:t> = Mean Temperature of Driest Quarter</a:t>
            </a:r>
            <a:endParaRPr lang="en-AU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936B6-EA79-F0A2-61FC-735929B86015}"/>
              </a:ext>
            </a:extLst>
          </p:cNvPr>
          <p:cNvSpPr txBox="1"/>
          <p:nvPr/>
        </p:nvSpPr>
        <p:spPr>
          <a:xfrm>
            <a:off x="6426036" y="2131075"/>
            <a:ext cx="4927764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BIO10</a:t>
            </a:r>
            <a:r>
              <a:rPr lang="en-AU" sz="1600" dirty="0"/>
              <a:t> = Mean Temperature of Warmest Quarter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BIO11</a:t>
            </a:r>
            <a:r>
              <a:rPr lang="en-AU" sz="1600" dirty="0"/>
              <a:t> = Mean Temperature of Coldest Quarter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BIO12</a:t>
            </a:r>
            <a:r>
              <a:rPr lang="en-AU" sz="1600" dirty="0"/>
              <a:t> = Annual Precipitation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BIO13</a:t>
            </a:r>
            <a:r>
              <a:rPr lang="en-AU" sz="1600" dirty="0"/>
              <a:t> = Precipitation of Wettest Month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BIO14 </a:t>
            </a:r>
            <a:r>
              <a:rPr lang="en-AU" sz="1600" dirty="0"/>
              <a:t>= Precipitation of Driest Month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BIO15 </a:t>
            </a:r>
            <a:r>
              <a:rPr lang="en-AU" sz="1600" dirty="0"/>
              <a:t>= Precipitation Seasonality (Coefficient of Variation)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BIO16 </a:t>
            </a:r>
            <a:r>
              <a:rPr lang="en-AU" sz="1600" dirty="0"/>
              <a:t>= Precipitation of Wettest Quarter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BIO17</a:t>
            </a:r>
            <a:r>
              <a:rPr lang="en-AU" sz="1600" dirty="0"/>
              <a:t> = Precipitation of Driest Quarter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BIO18</a:t>
            </a:r>
            <a:r>
              <a:rPr lang="en-AU" sz="1600" dirty="0"/>
              <a:t> = Precipitation of Warmest Quarter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AU" sz="1600" b="1" dirty="0"/>
              <a:t>BIO19</a:t>
            </a:r>
            <a:r>
              <a:rPr lang="en-AU" sz="1600" dirty="0"/>
              <a:t> = Precipitation of Coldest Quarter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A3CA1-E2FE-1074-FBDC-0F8518AA39B4}"/>
              </a:ext>
            </a:extLst>
          </p:cNvPr>
          <p:cNvSpPr/>
          <p:nvPr/>
        </p:nvSpPr>
        <p:spPr>
          <a:xfrm>
            <a:off x="955740" y="4154706"/>
            <a:ext cx="4646295" cy="28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8FB419-1B63-3EA9-F336-58E62C32A1D8}"/>
              </a:ext>
            </a:extLst>
          </p:cNvPr>
          <p:cNvSpPr/>
          <p:nvPr/>
        </p:nvSpPr>
        <p:spPr>
          <a:xfrm>
            <a:off x="955739" y="4554934"/>
            <a:ext cx="4646295" cy="28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2B1CA-D049-5269-38B9-473156E0464A}"/>
              </a:ext>
            </a:extLst>
          </p:cNvPr>
          <p:cNvSpPr/>
          <p:nvPr/>
        </p:nvSpPr>
        <p:spPr>
          <a:xfrm>
            <a:off x="6707505" y="2905596"/>
            <a:ext cx="4646295" cy="284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5F847-FA5E-6F37-201D-51472385B884}"/>
              </a:ext>
            </a:extLst>
          </p:cNvPr>
          <p:cNvSpPr/>
          <p:nvPr/>
        </p:nvSpPr>
        <p:spPr>
          <a:xfrm>
            <a:off x="6703498" y="4012466"/>
            <a:ext cx="4646295" cy="5424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6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72DE-890A-3C94-8D13-9FEF0E47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A3E7-65E4-3FB2-97EB-748C3102B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GFDL-ESM4 model – monthly </a:t>
            </a:r>
            <a:r>
              <a:rPr lang="en-AU" dirty="0" err="1"/>
              <a:t>tasmax</a:t>
            </a:r>
            <a:r>
              <a:rPr lang="en-AU" dirty="0"/>
              <a:t>, </a:t>
            </a:r>
            <a:r>
              <a:rPr lang="en-AU" dirty="0" err="1"/>
              <a:t>tasmin</a:t>
            </a:r>
            <a:r>
              <a:rPr lang="en-AU" dirty="0"/>
              <a:t>, precipitation</a:t>
            </a:r>
          </a:p>
          <a:p>
            <a:pPr lvl="1"/>
            <a:r>
              <a:rPr lang="en-AU" dirty="0"/>
              <a:t>Due to the size of this dataset we’ve subset it to SEQ</a:t>
            </a:r>
          </a:p>
          <a:p>
            <a:pPr lvl="1"/>
            <a:r>
              <a:rPr lang="en-AU" dirty="0"/>
              <a:t>Tomorrow you will use bioclimatic indicators based on a bias-corrected and statistically downscaled version of this dataset</a:t>
            </a:r>
          </a:p>
          <a:p>
            <a:endParaRPr lang="en-AU" dirty="0"/>
          </a:p>
          <a:p>
            <a:r>
              <a:rPr lang="en-AU" dirty="0"/>
              <a:t>Statistical downscaling</a:t>
            </a:r>
          </a:p>
          <a:p>
            <a:pPr lvl="1"/>
            <a:r>
              <a:rPr lang="en-AU" dirty="0"/>
              <a:t>Process of downscaling that relies on statistical relationships between the model and observations in the historical period</a:t>
            </a:r>
          </a:p>
          <a:p>
            <a:pPr lvl="1"/>
            <a:r>
              <a:rPr lang="en-AU" dirty="0"/>
              <a:t>Assumes relationship remains the same in the future</a:t>
            </a:r>
          </a:p>
        </p:txBody>
      </p:sp>
    </p:spTree>
    <p:extLst>
      <p:ext uri="{BB962C8B-B14F-4D97-AF65-F5344CB8AC3E}">
        <p14:creationId xmlns:p14="http://schemas.microsoft.com/office/powerpoint/2010/main" val="690500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DDE4-449F-5051-EAAC-D6D16FB4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does your data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01340-6F4F-E1CF-4588-910B1AE1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82083"/>
            <a:ext cx="4191000" cy="4775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27AF08-A807-AC35-4228-6A2AA89E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04"/>
          <a:stretch/>
        </p:blipFill>
        <p:spPr>
          <a:xfrm>
            <a:off x="6691313" y="1220155"/>
            <a:ext cx="4014787" cy="456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28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4797-A0DB-7820-A8CF-395A6C83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does your data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1EB7-5674-1695-243C-27DE2F45E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are the final bioclimatic indicators?</a:t>
            </a:r>
          </a:p>
          <a:p>
            <a:endParaRPr lang="en-AU" dirty="0"/>
          </a:p>
          <a:p>
            <a:r>
              <a:rPr lang="en-AU" dirty="0"/>
              <a:t>How are they changing over time?</a:t>
            </a:r>
          </a:p>
          <a:p>
            <a:endParaRPr lang="en-AU" dirty="0"/>
          </a:p>
          <a:p>
            <a:r>
              <a:rPr lang="en-AU" dirty="0"/>
              <a:t>Do these changes make sense?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4642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1460-1A53-CACD-5AF5-6123719D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0803-59F1-C6BC-B6B5-6FA2C999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There’s a lot of data available. Think about the question you’re asking and what you need before getting the data.</a:t>
            </a:r>
          </a:p>
          <a:p>
            <a:endParaRPr lang="en-AU" dirty="0"/>
          </a:p>
          <a:p>
            <a:r>
              <a:rPr lang="en-AU" dirty="0"/>
              <a:t>Always check your units</a:t>
            </a:r>
          </a:p>
          <a:p>
            <a:endParaRPr lang="en-AU" dirty="0"/>
          </a:p>
          <a:p>
            <a:r>
              <a:rPr lang="en-AU" dirty="0"/>
              <a:t>Plotting is a good way to check your data to make sure the numbers make sense</a:t>
            </a:r>
          </a:p>
          <a:p>
            <a:endParaRPr lang="en-AU" dirty="0"/>
          </a:p>
          <a:p>
            <a:r>
              <a:rPr lang="en-AU" dirty="0"/>
              <a:t>If you work with python and R – the indexing is different!</a:t>
            </a:r>
          </a:p>
        </p:txBody>
      </p:sp>
    </p:spTree>
    <p:extLst>
      <p:ext uri="{BB962C8B-B14F-4D97-AF65-F5344CB8AC3E}">
        <p14:creationId xmlns:p14="http://schemas.microsoft.com/office/powerpoint/2010/main" val="207929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T Toolkit">
      <a:dk1>
        <a:srgbClr val="000000"/>
      </a:dk1>
      <a:lt1>
        <a:srgbClr val="FFFFFF"/>
      </a:lt1>
      <a:dk2>
        <a:srgbClr val="5A5A5A"/>
      </a:dk2>
      <a:lt2>
        <a:srgbClr val="FFFFFF"/>
      </a:lt2>
      <a:accent1>
        <a:srgbClr val="003051"/>
      </a:accent1>
      <a:accent2>
        <a:srgbClr val="799FB1"/>
      </a:accent2>
      <a:accent3>
        <a:srgbClr val="CBB57C"/>
      </a:accent3>
      <a:accent4>
        <a:srgbClr val="4D4D4D"/>
      </a:accent4>
      <a:accent5>
        <a:srgbClr val="A5A5A5"/>
      </a:accent5>
      <a:accent6>
        <a:srgbClr val="DCDDDE"/>
      </a:accent6>
      <a:hlink>
        <a:srgbClr val="CBB57B"/>
      </a:hlink>
      <a:folHlink>
        <a:srgbClr val="CBB57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95AE24CFF80F4FB407CC28A5A8289F" ma:contentTypeVersion="19" ma:contentTypeDescription="Create a new document." ma:contentTypeScope="" ma:versionID="2eadc98cb3cb4ce4df7cbde518883c36">
  <xsd:schema xmlns:xsd="http://www.w3.org/2001/XMLSchema" xmlns:xs="http://www.w3.org/2001/XMLSchema" xmlns:p="http://schemas.microsoft.com/office/2006/metadata/properties" xmlns:ns2="b0f0a826-7bbf-4c4f-9e5c-4bf4033bef71" xmlns:ns3="b3269b26-c524-4f65-957f-5406fc8c01de" targetNamespace="http://schemas.microsoft.com/office/2006/metadata/properties" ma:root="true" ma:fieldsID="7972969f7f8ac0f9ea777c96f558746f" ns2:_="" ns3:_="">
    <xsd:import namespace="b0f0a826-7bbf-4c4f-9e5c-4bf4033bef71"/>
    <xsd:import namespace="b3269b26-c524-4f65-957f-5406fc8c0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f0a826-7bbf-4c4f-9e5c-4bf4033bef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ce70b5f-7cdc-4e64-9a67-dcab2ee1b5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269b26-c524-4f65-957f-5406fc8c01d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51bdb5-db0a-47fe-a757-fdc0200a9a25}" ma:internalName="TaxCatchAll" ma:showField="CatchAllData" ma:web="b3269b26-c524-4f65-957f-5406fc8c01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f0a826-7bbf-4c4f-9e5c-4bf4033bef71">
      <Terms xmlns="http://schemas.microsoft.com/office/infopath/2007/PartnerControls"/>
    </lcf76f155ced4ddcb4097134ff3c332f>
    <TaxCatchAll xmlns="b3269b26-c524-4f65-957f-5406fc8c01de" xsi:nil="true"/>
  </documentManagement>
</p:properties>
</file>

<file path=customXml/itemProps1.xml><?xml version="1.0" encoding="utf-8"?>
<ds:datastoreItem xmlns:ds="http://schemas.openxmlformats.org/officeDocument/2006/customXml" ds:itemID="{2E8C3FBB-16C2-46E1-AAEC-5CCB0B47A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C72707-38A1-46DD-8753-69382A2459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f0a826-7bbf-4c4f-9e5c-4bf4033bef71"/>
    <ds:schemaRef ds:uri="b3269b26-c524-4f65-957f-5406fc8c01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F65686-6421-4223-A902-93031905F712}">
  <ds:schemaRefs>
    <ds:schemaRef ds:uri="http://schemas.microsoft.com/office/2006/documentManagement/types"/>
    <ds:schemaRef ds:uri="http://purl.org/dc/dcmitype/"/>
    <ds:schemaRef ds:uri="b0f0a826-7bbf-4c4f-9e5c-4bf4033bef71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3269b26-c524-4f65-957f-5406fc8c01d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1257</Words>
  <Application>Microsoft Office PowerPoint</Application>
  <PresentationFormat>Widescreen</PresentationFormat>
  <Paragraphs>208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Helvetica Neue</vt:lpstr>
      <vt:lpstr>Times New Roman</vt:lpstr>
      <vt:lpstr>Office Theme</vt:lpstr>
      <vt:lpstr>Working with downscaled climate projections in R</vt:lpstr>
      <vt:lpstr>Who are we?</vt:lpstr>
      <vt:lpstr>Who are you?</vt:lpstr>
      <vt:lpstr>Open-source geospatial tools for conservation under climate change - A Koala case study</vt:lpstr>
      <vt:lpstr>Outline</vt:lpstr>
      <vt:lpstr>What is a climate model?</vt:lpstr>
      <vt:lpstr>What are downscaled climate projections?</vt:lpstr>
      <vt:lpstr>PowerPoint Presentation</vt:lpstr>
      <vt:lpstr>Downscaling improvements to performance</vt:lpstr>
      <vt:lpstr>CMIP6 Dashboard</vt:lpstr>
      <vt:lpstr>What are we doing today?</vt:lpstr>
      <vt:lpstr>What does a more realistic workflow look like?</vt:lpstr>
      <vt:lpstr>Questions?</vt:lpstr>
      <vt:lpstr>Getting started</vt:lpstr>
      <vt:lpstr>Prepare your files</vt:lpstr>
      <vt:lpstr>Set your working directory</vt:lpstr>
      <vt:lpstr>Datasets - models</vt:lpstr>
      <vt:lpstr>Datasets – climate change scenarios</vt:lpstr>
      <vt:lpstr>Part 1: What does your data look like?</vt:lpstr>
      <vt:lpstr>Your turn!</vt:lpstr>
      <vt:lpstr>What does your data look like?</vt:lpstr>
      <vt:lpstr>Part 2: What does your data look like?</vt:lpstr>
      <vt:lpstr>Your turn!</vt:lpstr>
      <vt:lpstr>Part 3: Bioclimatic indicators</vt:lpstr>
      <vt:lpstr>Input data</vt:lpstr>
      <vt:lpstr>What does your data look like?</vt:lpstr>
      <vt:lpstr>What does your data look like?</vt:lpstr>
      <vt:lpstr>Final 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Jackson Turner</dc:creator>
  <cp:lastModifiedBy>Sarah Chapman</cp:lastModifiedBy>
  <cp:revision>374</cp:revision>
  <cp:lastPrinted>2022-06-24T06:31:07Z</cp:lastPrinted>
  <dcterms:created xsi:type="dcterms:W3CDTF">2022-06-01T23:36:27Z</dcterms:created>
  <dcterms:modified xsi:type="dcterms:W3CDTF">2025-05-19T03:03:32Z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083577-197b-450c-831d-654cf3f56dc2_Enabled">
    <vt:lpwstr>true</vt:lpwstr>
  </property>
  <property fmtid="{D5CDD505-2E9C-101B-9397-08002B2CF9AE}" pid="3" name="MSIP_Label_5b083577-197b-450c-831d-654cf3f56dc2_SetDate">
    <vt:lpwstr>2022-06-01T23:36:28Z</vt:lpwstr>
  </property>
  <property fmtid="{D5CDD505-2E9C-101B-9397-08002B2CF9AE}" pid="4" name="MSIP_Label_5b083577-197b-450c-831d-654cf3f56dc2_Method">
    <vt:lpwstr>Standard</vt:lpwstr>
  </property>
  <property fmtid="{D5CDD505-2E9C-101B-9397-08002B2CF9AE}" pid="5" name="MSIP_Label_5b083577-197b-450c-831d-654cf3f56dc2_Name">
    <vt:lpwstr>OFFICIAL</vt:lpwstr>
  </property>
  <property fmtid="{D5CDD505-2E9C-101B-9397-08002B2CF9AE}" pid="6" name="MSIP_Label_5b083577-197b-450c-831d-654cf3f56dc2_SiteId">
    <vt:lpwstr>823bfb03-da26-4cbf-a7d6-f02dbfdf182e</vt:lpwstr>
  </property>
  <property fmtid="{D5CDD505-2E9C-101B-9397-08002B2CF9AE}" pid="7" name="MSIP_Label_5b083577-197b-450c-831d-654cf3f56dc2_ActionId">
    <vt:lpwstr>d4cfd0b5-6204-412c-8181-69f76a8fd1be</vt:lpwstr>
  </property>
  <property fmtid="{D5CDD505-2E9C-101B-9397-08002B2CF9AE}" pid="8" name="MSIP_Label_5b083577-197b-450c-831d-654cf3f56dc2_ContentBits">
    <vt:lpwstr>0</vt:lpwstr>
  </property>
  <property fmtid="{D5CDD505-2E9C-101B-9397-08002B2CF9AE}" pid="9" name="ContentTypeId">
    <vt:lpwstr>0x0101003B95AE24CFF80F4FB407CC28A5A8289F</vt:lpwstr>
  </property>
  <property fmtid="{D5CDD505-2E9C-101B-9397-08002B2CF9AE}" pid="10" name="QTBusinessOwner">
    <vt:lpwstr/>
  </property>
  <property fmtid="{D5CDD505-2E9C-101B-9397-08002B2CF9AE}" pid="11" name="QTSecurityClassification">
    <vt:lpwstr>1;#OFFICIAL|f67802d0-e2d2-455e-bfc4-106d673b036c</vt:lpwstr>
  </property>
  <property fmtid="{D5CDD505-2E9C-101B-9397-08002B2CF9AE}" pid="12" name="QTRetain">
    <vt:lpwstr>5;#Record|2584089d-4b41-46ae-ad46-8a9fb08e05f7</vt:lpwstr>
  </property>
  <property fmtid="{D5CDD505-2E9C-101B-9397-08002B2CF9AE}" pid="13" name="QTActivity">
    <vt:lpwstr>4;#Agency planning|daa6bcc6-ba33-4768-aa33-9e8f0120aadb</vt:lpwstr>
  </property>
  <property fmtid="{D5CDD505-2E9C-101B-9397-08002B2CF9AE}" pid="14" name="_dlc_DocIdItemGuid">
    <vt:lpwstr>eba76018-6ebd-4726-9235-b46020022a2e</vt:lpwstr>
  </property>
  <property fmtid="{D5CDD505-2E9C-101B-9397-08002B2CF9AE}" pid="15" name="MediaServiceImageTags">
    <vt:lpwstr/>
  </property>
  <property fmtid="{D5CDD505-2E9C-101B-9397-08002B2CF9AE}" pid="16" name="lcf76f155ced4ddcb4097134ff3c332f">
    <vt:lpwstr/>
  </property>
  <property fmtid="{D5CDD505-2E9C-101B-9397-08002B2CF9AE}" pid="17" name="RecordPoint_WorkflowType">
    <vt:lpwstr>ActiveSubmitStub</vt:lpwstr>
  </property>
  <property fmtid="{D5CDD505-2E9C-101B-9397-08002B2CF9AE}" pid="18" name="RecordPoint_ActiveItemWebId">
    <vt:lpwstr>{621cf084-3119-46e0-9e63-2f9d7323e329}</vt:lpwstr>
  </property>
  <property fmtid="{D5CDD505-2E9C-101B-9397-08002B2CF9AE}" pid="19" name="RecordPoint_ActiveItemSiteId">
    <vt:lpwstr>{b4a73f67-0374-40e5-825c-235af9151799}</vt:lpwstr>
  </property>
  <property fmtid="{D5CDD505-2E9C-101B-9397-08002B2CF9AE}" pid="20" name="RecordPoint_ActiveItemListId">
    <vt:lpwstr>{843ed0bc-962f-430c-8cc6-3c93a5dec404}</vt:lpwstr>
  </property>
  <property fmtid="{D5CDD505-2E9C-101B-9397-08002B2CF9AE}" pid="21" name="RecordPoint_ActiveItemUniqueId">
    <vt:lpwstr>{26bf2aa1-4c79-461d-b9d2-1bf49e64fda0}</vt:lpwstr>
  </property>
</Properties>
</file>