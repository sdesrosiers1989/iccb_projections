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92_10940F3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91" r:id="rId19"/>
    <p:sldId id="792" r:id="rId20"/>
    <p:sldId id="784" r:id="rId21"/>
    <p:sldId id="785" r:id="rId22"/>
    <p:sldId id="786" r:id="rId23"/>
    <p:sldId id="796" r:id="rId24"/>
    <p:sldId id="793" r:id="rId25"/>
    <p:sldId id="787" r:id="rId26"/>
    <p:sldId id="797" r:id="rId27"/>
    <p:sldId id="788" r:id="rId28"/>
    <p:sldId id="789" r:id="rId29"/>
    <p:sldId id="790" r:id="rId30"/>
    <p:sldId id="799" r:id="rId31"/>
    <p:sldId id="798" r:id="rId32"/>
    <p:sldId id="795" r:id="rId33"/>
    <p:sldId id="794" r:id="rId3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5E31BCD-7F51-5362-E73C-67B950D6E02F}" name="Sarah Chapman" initials="SC" userId="S::Sarah.Chapman@des.qld.gov.au::f3f01bf4-1c8a-44b5-850d-82840047e82b" providerId="AD"/>
  <p188:author id="{4E405CF4-6E88-6081-FAB0-21EB402E8198}" name="Rohan Eccles" initials="RE" userId="S::Rohan.Eccles@des.qld.gov.au::564d4391-8ef7-4616-9190-507970f2c99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51" d="100"/>
          <a:sy n="51" d="100"/>
        </p:scale>
        <p:origin x="845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omments/modernComment_192_10940F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E1442F-65F3-40B2-94B8-2ADE58324668}" authorId="{4E405CF4-6E88-6081-FAB0-21EB402E8198}" created="2025-05-14T01:59:02.0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78138672" sldId="402"/>
      <ac:spMk id="8" creationId="{2275965E-C62F-C6DE-4E58-578CC096E2C6}"/>
      <ac:txMk cp="0" len="15">
        <ac:context len="164" hash="3409116992"/>
      </ac:txMk>
    </ac:txMkLst>
    <p188:pos x="2372442" y="268651"/>
    <p188:txBody>
      <a:bodyPr/>
      <a:lstStyle/>
      <a:p>
        <a:r>
          <a:rPr lang="en-AU"/>
          <a:t>Ralph not also with UQ?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5-14T02:42:44.237" authorId="{35E31BCD-7F51-5362-E73C-67B950D6E02F}"/>
          </p223:rxn>
        </p223:reactions>
      </p:ext>
    </p188:extLst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20/05/2025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20/05/2025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2_10940F3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orbrewer2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976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104" y="2359808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060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994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5104" y="4703040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746975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289009" y="1492462"/>
            <a:ext cx="4082844" cy="10564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Science leader, coordinator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7E483C-0436-83B5-687C-33AE2AD6CCDE}"/>
              </a:ext>
            </a:extLst>
          </p:cNvPr>
          <p:cNvSpPr txBox="1">
            <a:spLocks/>
          </p:cNvSpPr>
          <p:nvPr/>
        </p:nvSpPr>
        <p:spPr>
          <a:xfrm>
            <a:off x="3026492" y="4232620"/>
            <a:ext cx="3183112" cy="2070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Hydrologist, climate extremes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88D254-D64D-1803-C60D-9C07D7940192}"/>
              </a:ext>
            </a:extLst>
          </p:cNvPr>
          <p:cNvSpPr txBox="1">
            <a:spLocks/>
          </p:cNvSpPr>
          <p:nvPr/>
        </p:nvSpPr>
        <p:spPr>
          <a:xfrm>
            <a:off x="5691368" y="3176135"/>
            <a:ext cx="2709291" cy="105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Applied climate science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 (~ 30 mins each)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pPr lvl="1"/>
            <a:endParaRPr lang="en-AU" dirty="0"/>
          </a:p>
          <a:p>
            <a:r>
              <a:rPr lang="en-AU" dirty="0"/>
              <a:t>Start installing packages while we talk!</a:t>
            </a:r>
          </a:p>
          <a:p>
            <a:pPr lvl="1"/>
            <a:r>
              <a:rPr lang="en-AU" dirty="0"/>
              <a:t>terra, </a:t>
            </a:r>
            <a:r>
              <a:rPr lang="en-AU" dirty="0" err="1"/>
              <a:t>dplyr</a:t>
            </a:r>
            <a:r>
              <a:rPr lang="en-AU" dirty="0"/>
              <a:t>, sf, ggplot2, </a:t>
            </a:r>
            <a:r>
              <a:rPr lang="en-AU" dirty="0" err="1"/>
              <a:t>dismo</a:t>
            </a:r>
            <a:r>
              <a:rPr lang="en-AU" dirty="0"/>
              <a:t>, </a:t>
            </a:r>
            <a:r>
              <a:rPr lang="en-AU" dirty="0" err="1"/>
              <a:t>rasterVis</a:t>
            </a:r>
            <a:r>
              <a:rPr lang="en-AU" dirty="0"/>
              <a:t>, reshape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models: ACCESS-ESM1-5, EC-Earth3, GFDL-ESM4</a:t>
            </a:r>
          </a:p>
          <a:p>
            <a:pPr lvl="1"/>
            <a:r>
              <a:rPr lang="en-AU" dirty="0"/>
              <a:t>Climate scenarios: SSP370</a:t>
            </a:r>
          </a:p>
          <a:p>
            <a:pPr lvl="2"/>
            <a:r>
              <a:rPr lang="en-AU" dirty="0"/>
              <a:t>If you have time the data folder includes SSP126 and SSP245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Validate the data against observations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813716" cy="4789400"/>
          </a:xfrm>
        </p:spPr>
        <p:txBody>
          <a:bodyPr>
            <a:normAutofit/>
          </a:bodyPr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”). </a:t>
            </a:r>
            <a:r>
              <a:rPr lang="en-AU" dirty="0"/>
              <a:t>See </a:t>
            </a:r>
            <a:r>
              <a:rPr lang="en-AU" dirty="0">
                <a:hlinkClick r:id="rId2"/>
              </a:rPr>
              <a:t>https://colorbrewer2.org/</a:t>
            </a:r>
            <a:r>
              <a:rPr lang="en-AU" dirty="0"/>
              <a:t> for ideas!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0096"/>
            <a:ext cx="6257537" cy="2667394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7BFE2-9E93-B8E2-A82B-3767A5E0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451" y="1144588"/>
            <a:ext cx="3998237" cy="46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What do the other scenarios look like? SSP126 and SSP245 are in the </a:t>
            </a:r>
            <a:r>
              <a:rPr lang="en-AU"/>
              <a:t>data folder. </a:t>
            </a:r>
            <a:r>
              <a:rPr lang="en-AU" dirty="0"/>
              <a:t>Try plotting them!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Validation and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01340-6F4F-E1CF-4588-910B1AE10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82083"/>
            <a:ext cx="4191000" cy="4775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7AF08-A807-AC35-4228-6A2AA89E9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04"/>
          <a:stretch/>
        </p:blipFill>
        <p:spPr>
          <a:xfrm>
            <a:off x="6691313" y="1220155"/>
            <a:ext cx="4014787" cy="456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BACD-AE30-C13A-FE07-68BC28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BAF0-0E19-C612-7856-A631B395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2CC3-40CB-7F33-E33D-8D002A5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59" y="1375576"/>
            <a:ext cx="5907821" cy="4901260"/>
          </a:xfrm>
        </p:spPr>
        <p:txBody>
          <a:bodyPr>
            <a:normAutofit/>
          </a:bodyPr>
          <a:lstStyle/>
          <a:p>
            <a:r>
              <a:rPr lang="en-AU" dirty="0"/>
              <a:t>Ensure observations and modelled data are comparable</a:t>
            </a:r>
          </a:p>
          <a:p>
            <a:pPr lvl="1"/>
            <a:r>
              <a:rPr lang="en-AU" dirty="0"/>
              <a:t>Spatial resolution</a:t>
            </a:r>
          </a:p>
          <a:p>
            <a:pPr lvl="1"/>
            <a:r>
              <a:rPr lang="en-AU" dirty="0"/>
              <a:t>Temporal resolution</a:t>
            </a:r>
          </a:p>
          <a:p>
            <a:pPr lvl="1"/>
            <a:endParaRPr lang="en-AU" dirty="0"/>
          </a:p>
          <a:p>
            <a:r>
              <a:rPr lang="en-AU" dirty="0"/>
              <a:t>Quantifying performance: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  <a:p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6BB6-46AE-D4D5-0F8E-E7EFA8BAF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8" r="21917"/>
          <a:stretch/>
        </p:blipFill>
        <p:spPr>
          <a:xfrm>
            <a:off x="6758230" y="365125"/>
            <a:ext cx="4595570" cy="57134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/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AU" i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𝑚𝑜𝑑𝑒𝑙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A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𝑜𝑏𝑠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A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nary>
                            </m:e>
                          </m:d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/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𝑀𝐴𝑃𝐸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A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𝑚𝑜𝑑𝑒𝑙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A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×100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471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5823-616C-96A9-6D16-B964D175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C402-C5CA-9558-8AF7-56961CA1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Spatial Averages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F05FE-6493-86C0-841D-8E961F5E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8" y="1249920"/>
            <a:ext cx="6591525" cy="450262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17450-CABE-F9F1-3713-E4E9243D6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958" y="1106531"/>
            <a:ext cx="5289606" cy="4789400"/>
          </a:xfrm>
        </p:spPr>
        <p:txBody>
          <a:bodyPr>
            <a:normAutofit/>
          </a:bodyPr>
          <a:lstStyle/>
          <a:p>
            <a:r>
              <a:rPr lang="en-AU" dirty="0"/>
              <a:t>Average of cut raster considers all cells</a:t>
            </a:r>
          </a:p>
          <a:p>
            <a:endParaRPr lang="en-AU" dirty="0"/>
          </a:p>
          <a:p>
            <a:r>
              <a:rPr lang="en-AU" b="1" dirty="0"/>
              <a:t>terra::extract</a:t>
            </a:r>
            <a:r>
              <a:rPr lang="en-AU" dirty="0"/>
              <a:t> weights the mean by the area within the shapefile</a:t>
            </a:r>
          </a:p>
          <a:p>
            <a:endParaRPr lang="en-AU" dirty="0"/>
          </a:p>
          <a:p>
            <a:r>
              <a:rPr lang="en-AU" dirty="0"/>
              <a:t>More precise results, especially for smaller shapefiles</a:t>
            </a:r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569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Props1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3194</TotalTime>
  <Words>1323</Words>
  <Application>Microsoft Office PowerPoint</Application>
  <PresentationFormat>Widescreen</PresentationFormat>
  <Paragraphs>229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Validation and Bioclimatic indicators</vt:lpstr>
      <vt:lpstr>Input data</vt:lpstr>
      <vt:lpstr>What does your data look like?</vt:lpstr>
      <vt:lpstr>Validating the data</vt:lpstr>
      <vt:lpstr>Spatial Averages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380</cp:revision>
  <cp:lastPrinted>2022-06-24T06:31:07Z</cp:lastPrinted>
  <dcterms:created xsi:type="dcterms:W3CDTF">2022-06-01T23:36:27Z</dcterms:created>
  <dcterms:modified xsi:type="dcterms:W3CDTF">2025-05-19T23:28:20Z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