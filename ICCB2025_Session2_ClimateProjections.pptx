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9"/>
  </p:notesMasterIdLst>
  <p:sldIdLst>
    <p:sldId id="402" r:id="rId5"/>
    <p:sldId id="648" r:id="rId6"/>
    <p:sldId id="662" r:id="rId7"/>
    <p:sldId id="276" r:id="rId8"/>
    <p:sldId id="660" r:id="rId9"/>
    <p:sldId id="769" r:id="rId10"/>
    <p:sldId id="663" r:id="rId11"/>
    <p:sldId id="768" r:id="rId12"/>
    <p:sldId id="770" r:id="rId13"/>
    <p:sldId id="780" r:id="rId14"/>
    <p:sldId id="771" r:id="rId15"/>
    <p:sldId id="781" r:id="rId16"/>
    <p:sldId id="783" r:id="rId17"/>
    <p:sldId id="649" r:id="rId18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9DAF"/>
    <a:srgbClr val="003051"/>
    <a:srgbClr val="003152"/>
    <a:srgbClr val="EEE7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2D5C93-2E69-4ACC-AAC0-B7DB40A6AEC2}" v="33" dt="2025-05-13T03:45:39.4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260" autoAdjust="0"/>
    <p:restoredTop sz="96801" autoAdjust="0"/>
  </p:normalViewPr>
  <p:slideViewPr>
    <p:cSldViewPr snapToGrid="0">
      <p:cViewPr varScale="1">
        <p:scale>
          <a:sx n="112" d="100"/>
          <a:sy n="112" d="100"/>
        </p:scale>
        <p:origin x="64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4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309D7A-BA77-4D3E-8885-F2957CF075B2}" type="datetimeFigureOut">
              <a:rPr lang="en-AU" smtClean="0"/>
              <a:t>13/05/2025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4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06BF31-5C53-40E8-B992-076F5C2206C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77661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5000"/>
              </a:lnSpc>
              <a:spcAft>
                <a:spcPts val="800"/>
              </a:spcAft>
            </a:pPr>
            <a:endParaRPr lang="en-AU" sz="12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06BF31-5C53-40E8-B992-076F5C2206CD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77039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Opening/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9BF6A6B3-B483-BCCC-CAAC-EBD954297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1AAE70-C068-BB8A-3FF9-F8E5BCAB3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4" y="1765156"/>
            <a:ext cx="9877465" cy="2111375"/>
          </a:xfrm>
        </p:spPr>
        <p:txBody>
          <a:bodyPr anchor="b">
            <a:normAutofit/>
          </a:bodyPr>
          <a:lstStyle>
            <a:lvl1pPr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0F975D-502D-3B3F-55E4-60C3F53008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4" y="3894787"/>
            <a:ext cx="987746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1267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4BFECE25-7762-BB3B-8D56-757F3E87A9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77315C6-02A4-A89E-FF3F-9DCBB17E1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5" y="1765156"/>
            <a:ext cx="7119280" cy="2111375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44A2C86-F384-E113-C6EA-155C6D5501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5" y="3894787"/>
            <a:ext cx="711928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69294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4BFECE25-7762-BB3B-8D56-757F3E87A9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44896C0-BD7E-2F91-9D09-012D4B3B45E2}"/>
              </a:ext>
            </a:extLst>
          </p:cNvPr>
          <p:cNvSpPr/>
          <p:nvPr userDrawn="1"/>
        </p:nvSpPr>
        <p:spPr>
          <a:xfrm>
            <a:off x="6096000" y="0"/>
            <a:ext cx="252984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B95D242-B5B1-2914-DB4F-29B4816A9A2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4476" cy="6857999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5C76596-A49D-A061-F069-2911B3BD0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5" y="1765156"/>
            <a:ext cx="4624491" cy="2111375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AB6ADF0-285F-42A0-36AF-31BCC1E201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5" y="3894787"/>
            <a:ext cx="4624491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45464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0E574A88-6730-8D73-6307-B21723B80E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664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4B8D6B16-7E9B-9E4F-2CD5-E0CDE805590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7894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F9BD4F29-A6A4-9641-A284-1A3B063C39A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7894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534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1364454B-C70F-4CF7-135B-666993F665E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403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1E440AFD-2553-D07D-F0BF-57BC5C69B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06337" cy="779463"/>
          </a:xfrm>
        </p:spPr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9706337" cy="5154526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978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09337D82-5EEB-3387-C2B5-85185EB0A9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64210" cy="779463"/>
          </a:xfrm>
        </p:spPr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591878" cy="505087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666395" y="1338349"/>
            <a:ext cx="4936015" cy="505087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208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428A17C0-964F-B7A2-6A90-ED006919E5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399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shape&#10;&#10;Description automatically generated">
            <a:extLst>
              <a:ext uri="{FF2B5EF4-FFF2-40B4-BE49-F238E27FC236}">
                <a16:creationId xmlns:a16="http://schemas.microsoft.com/office/drawing/2014/main" id="{E021D8AC-8AE7-1139-F3EF-E34A3D57E2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10515600" cy="45300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758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D0C67E1-4FC8-FA39-B98D-13C80CE089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6948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shape&#10;&#10;Description automatically generated">
            <a:extLst>
              <a:ext uri="{FF2B5EF4-FFF2-40B4-BE49-F238E27FC236}">
                <a16:creationId xmlns:a16="http://schemas.microsoft.com/office/drawing/2014/main" id="{0034C88A-DDEA-B445-D981-BD83108F5C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448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chart&#10;&#10;Description automatically generated">
            <a:extLst>
              <a:ext uri="{FF2B5EF4-FFF2-40B4-BE49-F238E27FC236}">
                <a16:creationId xmlns:a16="http://schemas.microsoft.com/office/drawing/2014/main" id="{46D4FF2F-0EC2-9601-3237-019948803E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10515600" cy="45300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2361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chart&#10;&#10;Description automatically generated">
            <a:extLst>
              <a:ext uri="{FF2B5EF4-FFF2-40B4-BE49-F238E27FC236}">
                <a16:creationId xmlns:a16="http://schemas.microsoft.com/office/drawing/2014/main" id="{4AA9613F-9366-6684-684B-6202E612741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2611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chart&#10;&#10;Description automatically generated">
            <a:extLst>
              <a:ext uri="{FF2B5EF4-FFF2-40B4-BE49-F238E27FC236}">
                <a16:creationId xmlns:a16="http://schemas.microsoft.com/office/drawing/2014/main" id="{1A1140A6-595F-6B8E-CA6B-94E0AC4A797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1693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ideba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05865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575734" y="6586"/>
            <a:ext cx="9616771" cy="68703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AU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575900" y="1160525"/>
            <a:ext cx="11023686" cy="5107271"/>
          </a:xfrm>
        </p:spPr>
        <p:txBody>
          <a:bodyPr/>
          <a:lstStyle>
            <a:lvl1pPr marL="0" marR="0" indent="0" algn="l" defTabSz="1218072" rtl="0" eaLnBrk="0" fontAlgn="base" latinLnBrk="0" hangingPunct="0">
              <a:lnSpc>
                <a:spcPct val="100000"/>
              </a:lnSpc>
              <a:spcBef>
                <a:spcPts val="799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4419741" algn="l"/>
              </a:tabLst>
              <a:defRPr sz="1865"/>
            </a:lvl1pPr>
          </a:lstStyle>
          <a:p>
            <a:pPr lvl="0"/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2271945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D94687-72E9-4753-BA13-77B660611163}" type="datetime1">
              <a:rPr lang="en-AU" smtClean="0"/>
              <a:t>13/05/2025</a:t>
            </a:fld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E882F0-8EC3-48E9-8046-3B89B9DC8F37}" type="slidenum">
              <a:rPr lang="en-AU" smtClean="0"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99878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ED4184-F596-9A5C-1676-4B4AA64AB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B63F9-B69F-2AE1-17A8-4A21825BD9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338349"/>
            <a:ext cx="10515600" cy="4789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9517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75" r:id="rId2"/>
    <p:sldLayoutId id="2147483676" r:id="rId3"/>
    <p:sldLayoutId id="2147483650" r:id="rId4"/>
    <p:sldLayoutId id="2147483659" r:id="rId5"/>
    <p:sldLayoutId id="2147483662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4" r:id="rId12"/>
    <p:sldLayoutId id="2147483672" r:id="rId13"/>
    <p:sldLayoutId id="2147483673" r:id="rId14"/>
    <p:sldLayoutId id="2147483671" r:id="rId15"/>
    <p:sldLayoutId id="2147483663" r:id="rId16"/>
    <p:sldLayoutId id="214748366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rgbClr val="00315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ithub.com/sdesrosiers1989/ICCB_Projections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13" Type="http://schemas.openxmlformats.org/officeDocument/2006/relationships/image" Target="../media/image26.png"/><Relationship Id="rId3" Type="http://schemas.openxmlformats.org/officeDocument/2006/relationships/image" Target="../media/image16.jpeg"/><Relationship Id="rId7" Type="http://schemas.openxmlformats.org/officeDocument/2006/relationships/image" Target="../media/image20.jpeg"/><Relationship Id="rId12" Type="http://schemas.openxmlformats.org/officeDocument/2006/relationships/image" Target="../media/image25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11" Type="http://schemas.openxmlformats.org/officeDocument/2006/relationships/image" Target="../media/image24.svg"/><Relationship Id="rId5" Type="http://schemas.openxmlformats.org/officeDocument/2006/relationships/image" Target="../media/image18.jpeg"/><Relationship Id="rId10" Type="http://schemas.openxmlformats.org/officeDocument/2006/relationships/image" Target="../media/image23.png"/><Relationship Id="rId4" Type="http://schemas.openxmlformats.org/officeDocument/2006/relationships/image" Target="../media/image17.jpeg"/><Relationship Id="rId9" Type="http://schemas.openxmlformats.org/officeDocument/2006/relationships/image" Target="../media/image22.jpeg"/><Relationship Id="rId1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hyperlink" Target="https://dx.doi.org/10.25914/8fve-1910" TargetMode="Externa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ongpaddock.qld.gov.au/qld-future-climate/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029/2023EF003548" TargetMode="Externa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ithub.com/sdesrosiers1989/ICCB_Projections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7FAF5-BF09-4F37-AE93-CCF3296DC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AU" sz="4800" dirty="0">
                <a:solidFill>
                  <a:srgbClr val="FFFFFF"/>
                </a:solidFill>
                <a:latin typeface="Arial"/>
                <a:ea typeface="Roboto"/>
                <a:cs typeface="Arial"/>
              </a:rPr>
              <a:t>Working with downscaled climate projections in R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275965E-C62F-C6DE-4E58-578CC096E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Ralph Trancoso</a:t>
            </a:r>
            <a:r>
              <a:rPr lang="en-US" baseline="30000" dirty="0"/>
              <a:t>1</a:t>
            </a:r>
            <a:r>
              <a:rPr lang="en-US" dirty="0"/>
              <a:t>, Sarah Chapman</a:t>
            </a:r>
            <a:r>
              <a:rPr lang="en-US" baseline="30000" dirty="0"/>
              <a:t>1,2</a:t>
            </a:r>
            <a:r>
              <a:rPr lang="en-US" dirty="0"/>
              <a:t>, Rohan Eccles</a:t>
            </a:r>
            <a:r>
              <a:rPr lang="en-US" baseline="30000" dirty="0"/>
              <a:t>1</a:t>
            </a:r>
            <a:endParaRPr lang="en-US" dirty="0"/>
          </a:p>
          <a:p>
            <a:pPr>
              <a:lnSpc>
                <a:spcPct val="100000"/>
              </a:lnSpc>
            </a:pPr>
            <a:r>
              <a:rPr lang="en-US" sz="1600" baseline="30000" dirty="0">
                <a:cs typeface="Arial"/>
              </a:rPr>
              <a:t>1 Climate Projections &amp; Services team, Queensland Treasury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baseline="30000" dirty="0">
                <a:cs typeface="Arial"/>
              </a:rPr>
              <a:t>2 School of the Environment, University of Queensland</a:t>
            </a:r>
            <a:endParaRPr lang="en-US" sz="1600" dirty="0"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781386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D8931-92C3-4F69-AE6F-15DAA6066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Who are we?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028A5-C4F1-4903-9C87-FE336FB8D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269" y="2896821"/>
            <a:ext cx="2944307" cy="67459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AU" dirty="0"/>
              <a:t>Ralph Trancoso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pic>
        <p:nvPicPr>
          <p:cNvPr id="7" name="Picture 6" descr="A stick figure with a book and eyes drawn in black&#10;&#10;AI-generated content may be incorrect.">
            <a:extLst>
              <a:ext uri="{FF2B5EF4-FFF2-40B4-BE49-F238E27FC236}">
                <a16:creationId xmlns:a16="http://schemas.microsoft.com/office/drawing/2014/main" id="{D25F7EA2-3A00-0FE0-5877-C96D94311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232" y="2223919"/>
            <a:ext cx="2191056" cy="241016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44922D9-A662-6249-640F-3BB63BB1A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353" y="1162049"/>
            <a:ext cx="1652869" cy="1652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ohan Eccles">
            <a:extLst>
              <a:ext uri="{FF2B5EF4-FFF2-40B4-BE49-F238E27FC236}">
                <a16:creationId xmlns:a16="http://schemas.microsoft.com/office/drawing/2014/main" id="{499C83A6-D8AA-D81D-1A1E-DDF44FFD32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287" y="4120137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924A67B-6A43-F9D7-F91B-8D886B71478C}"/>
              </a:ext>
            </a:extLst>
          </p:cNvPr>
          <p:cNvSpPr txBox="1">
            <a:spLocks/>
          </p:cNvSpPr>
          <p:nvPr/>
        </p:nvSpPr>
        <p:spPr>
          <a:xfrm>
            <a:off x="8128232" y="4567151"/>
            <a:ext cx="2944307" cy="6745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AU" dirty="0"/>
              <a:t>Sarah Chapman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200F209-3BA2-8FBD-95EB-5E7336BE4E0A}"/>
              </a:ext>
            </a:extLst>
          </p:cNvPr>
          <p:cNvSpPr txBox="1">
            <a:spLocks/>
          </p:cNvSpPr>
          <p:nvPr/>
        </p:nvSpPr>
        <p:spPr>
          <a:xfrm>
            <a:off x="211268" y="6303042"/>
            <a:ext cx="2944307" cy="6745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AU" dirty="0"/>
              <a:t>Rohan Eccles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2A71A4E-ED00-5269-DA64-9D3E24A6D503}"/>
              </a:ext>
            </a:extLst>
          </p:cNvPr>
          <p:cNvSpPr txBox="1">
            <a:spLocks/>
          </p:cNvSpPr>
          <p:nvPr/>
        </p:nvSpPr>
        <p:spPr>
          <a:xfrm>
            <a:off x="3655572" y="2877210"/>
            <a:ext cx="4710953" cy="26330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Mildly amusing and informative text</a:t>
            </a:r>
            <a:br>
              <a:rPr lang="en-AU" sz="2200" dirty="0"/>
            </a:br>
            <a:endParaRPr lang="en-AU" sz="2200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84227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79A7CE-7FFE-62C4-FD3C-4E1F9F085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75995"/>
            <a:ext cx="10515600" cy="779463"/>
          </a:xfrm>
        </p:spPr>
        <p:txBody>
          <a:bodyPr/>
          <a:lstStyle/>
          <a:p>
            <a:r>
              <a:rPr lang="en-AU" dirty="0"/>
              <a:t>Who are you?</a:t>
            </a:r>
          </a:p>
        </p:txBody>
      </p:sp>
    </p:spTree>
    <p:extLst>
      <p:ext uri="{BB962C8B-B14F-4D97-AF65-F5344CB8AC3E}">
        <p14:creationId xmlns:p14="http://schemas.microsoft.com/office/powerpoint/2010/main" val="4178207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Header image for ICCB 2025">
            <a:extLst>
              <a:ext uri="{FF2B5EF4-FFF2-40B4-BE49-F238E27FC236}">
                <a16:creationId xmlns:a16="http://schemas.microsoft.com/office/drawing/2014/main" id="{25FF1D0D-3284-2700-960B-8A4FF3DDAD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1925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199C56-CB43-8B1F-B8B1-A71DA2CF8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85975"/>
            <a:ext cx="10515600" cy="1281113"/>
          </a:xfrm>
        </p:spPr>
        <p:txBody>
          <a:bodyPr>
            <a:normAutofit/>
          </a:bodyPr>
          <a:lstStyle/>
          <a:p>
            <a:r>
              <a:rPr lang="en-AU" sz="3600" dirty="0"/>
              <a:t>Open-source geospatial tools for conservation under climate change - A Koala case study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32C02D6-D4BB-8E9D-D69F-C0646E44EE92}"/>
              </a:ext>
            </a:extLst>
          </p:cNvPr>
          <p:cNvGraphicFramePr>
            <a:graphicFrameLocks noGrp="1"/>
          </p:cNvGraphicFramePr>
          <p:nvPr/>
        </p:nvGraphicFramePr>
        <p:xfrm>
          <a:off x="538162" y="3529014"/>
          <a:ext cx="11115675" cy="23520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3135">
                  <a:extLst>
                    <a:ext uri="{9D8B030D-6E8A-4147-A177-3AD203B41FA5}">
                      <a16:colId xmlns:a16="http://schemas.microsoft.com/office/drawing/2014/main" val="3997745817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2619779382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3805414486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951778158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4082001275"/>
                    </a:ext>
                  </a:extLst>
                </a:gridCol>
              </a:tblGrid>
              <a:tr h="527377">
                <a:tc>
                  <a:txBody>
                    <a:bodyPr/>
                    <a:lstStyle/>
                    <a:p>
                      <a:r>
                        <a:rPr lang="en-AU" dirty="0"/>
                        <a:t>Session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864431"/>
                  </a:ext>
                </a:extLst>
              </a:tr>
              <a:tr h="910267">
                <a:tc>
                  <a:txBody>
                    <a:bodyPr/>
                    <a:lstStyle/>
                    <a:p>
                      <a:r>
                        <a:rPr lang="en-AU" dirty="0"/>
                        <a:t>Intro to geospatial data and tools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Downscaled climate projections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Koala SDMs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Spatial conservation 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Making maps with QGIS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8999135"/>
                  </a:ext>
                </a:extLst>
              </a:tr>
              <a:tr h="910267">
                <a:tc>
                  <a:txBody>
                    <a:bodyPr/>
                    <a:lstStyle/>
                    <a:p>
                      <a:r>
                        <a:rPr lang="en-AU" sz="1400" dirty="0"/>
                        <a:t>Jason Flower, Mitch Rudge, Catherine Kim, EcoCommons team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Ralph Trancoso, Sarah Chapman, Rohan Eccles</a:t>
                      </a:r>
                      <a:endParaRPr lang="en-AU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Charlotte Patterson, Scott Forrest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Brooke Williams, Caitie Kuemple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Emma Hain, Nyall Dawson, Jason Flower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253031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954C3EC-1CD2-8F3C-77DC-A3E6E1077B21}"/>
              </a:ext>
            </a:extLst>
          </p:cNvPr>
          <p:cNvSpPr/>
          <p:nvPr/>
        </p:nvSpPr>
        <p:spPr>
          <a:xfrm>
            <a:off x="2728632" y="3490913"/>
            <a:ext cx="2311401" cy="2413001"/>
          </a:xfrm>
          <a:prstGeom prst="rect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14141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6DA31-9CB9-EE9B-F9FA-21CDAFF99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4A3AF-E63A-DC17-5D43-366DC92FB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Background on downscaled climate projections</a:t>
            </a:r>
          </a:p>
          <a:p>
            <a:endParaRPr lang="en-AU" dirty="0"/>
          </a:p>
          <a:p>
            <a:r>
              <a:rPr lang="en-AU" dirty="0"/>
              <a:t>R scripts</a:t>
            </a:r>
          </a:p>
          <a:p>
            <a:pPr lvl="1"/>
            <a:r>
              <a:rPr lang="en-AU" dirty="0"/>
              <a:t>Importing, plotting, </a:t>
            </a:r>
            <a:r>
              <a:rPr lang="en-AU" dirty="0" err="1"/>
              <a:t>subsetting</a:t>
            </a:r>
            <a:r>
              <a:rPr lang="en-AU" dirty="0"/>
              <a:t> climate projections data</a:t>
            </a:r>
          </a:p>
          <a:p>
            <a:pPr lvl="1"/>
            <a:r>
              <a:rPr lang="en-AU" dirty="0"/>
              <a:t>Calculating ensemble mean</a:t>
            </a:r>
          </a:p>
          <a:p>
            <a:pPr lvl="1"/>
            <a:r>
              <a:rPr lang="en-AU" dirty="0"/>
              <a:t>Calculating bioclimatic indices</a:t>
            </a:r>
          </a:p>
          <a:p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BDAE28-F7DD-F701-9F59-D9CFD3E6ADF9}"/>
              </a:ext>
            </a:extLst>
          </p:cNvPr>
          <p:cNvSpPr txBox="1"/>
          <p:nvPr/>
        </p:nvSpPr>
        <p:spPr>
          <a:xfrm>
            <a:off x="5100918" y="57019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2"/>
              </a:rPr>
              <a:t>https://github.com/sdesrosiers1989/ICCB_Projections</a:t>
            </a:r>
            <a:endParaRPr lang="en-AU" dirty="0"/>
          </a:p>
        </p:txBody>
      </p:sp>
      <p:pic>
        <p:nvPicPr>
          <p:cNvPr id="2050" name="Picture 2" descr="GitHub Download PNG Image | PNG Mart">
            <a:extLst>
              <a:ext uri="{FF2B5EF4-FFF2-40B4-BE49-F238E27FC236}">
                <a16:creationId xmlns:a16="http://schemas.microsoft.com/office/drawing/2014/main" id="{B39C0032-C04D-AD9B-8472-4F9C01BEF0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6978" y="324550"/>
            <a:ext cx="1290918" cy="860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1233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66767-B865-CB6B-4630-EF5D4EAF5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is a climate model?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0B754958-C2DB-E2EE-1A48-A89BDA374A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697037"/>
            <a:ext cx="4180324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AA24A1-7D01-3A93-7A02-5823D72371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4450" y="1057275"/>
            <a:ext cx="5524500" cy="523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90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D8931-92C3-4F69-AE6F-15DAA6066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are downscaled climate projections?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028A5-C4F1-4903-9C87-FE336FB8D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99" y="1338349"/>
            <a:ext cx="9063484" cy="5154526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lang="en-AU" dirty="0"/>
              <a:t>Global climate models (GCMS) have a spatial resolution of 100 – 200km</a:t>
            </a:r>
          </a:p>
          <a:p>
            <a:pPr>
              <a:lnSpc>
                <a:spcPct val="110000"/>
              </a:lnSpc>
            </a:pPr>
            <a:endParaRPr lang="en-AU" dirty="0"/>
          </a:p>
          <a:p>
            <a:pPr>
              <a:lnSpc>
                <a:spcPct val="110000"/>
              </a:lnSpc>
            </a:pPr>
            <a:r>
              <a:rPr lang="en-AU" dirty="0"/>
              <a:t>CMIP (Coupled Model Intercomparison Project) – major international modelling effort which feeds into IPCC reports</a:t>
            </a:r>
          </a:p>
          <a:p>
            <a:pPr lvl="1">
              <a:lnSpc>
                <a:spcPct val="110000"/>
              </a:lnSpc>
            </a:pPr>
            <a:r>
              <a:rPr lang="en-AU" dirty="0"/>
              <a:t>Currently on CMIP6</a:t>
            </a:r>
          </a:p>
          <a:p>
            <a:pPr>
              <a:lnSpc>
                <a:spcPct val="110000"/>
              </a:lnSpc>
            </a:pPr>
            <a:endParaRPr lang="en-AU" dirty="0"/>
          </a:p>
          <a:p>
            <a:pPr>
              <a:lnSpc>
                <a:spcPct val="110000"/>
              </a:lnSpc>
            </a:pPr>
            <a:r>
              <a:rPr lang="en-AU" dirty="0"/>
              <a:t>Dynamical downscaling – running a higher resolution model with the inputs of a coarser resolution model (i.e., GCM) to improve the resolution of your data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6545280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B727965A-8DF0-50A1-6532-EA7843F2FB52}"/>
              </a:ext>
            </a:extLst>
          </p:cNvPr>
          <p:cNvSpPr txBox="1"/>
          <p:nvPr/>
        </p:nvSpPr>
        <p:spPr>
          <a:xfrm>
            <a:off x="-1711842" y="40403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041" name="Group 1040">
            <a:extLst>
              <a:ext uri="{FF2B5EF4-FFF2-40B4-BE49-F238E27FC236}">
                <a16:creationId xmlns:a16="http://schemas.microsoft.com/office/drawing/2014/main" id="{5B144E11-C94C-71E9-D807-62C2BEE00A5B}"/>
              </a:ext>
            </a:extLst>
          </p:cNvPr>
          <p:cNvGrpSpPr/>
          <p:nvPr/>
        </p:nvGrpSpPr>
        <p:grpSpPr>
          <a:xfrm>
            <a:off x="-33699" y="2906900"/>
            <a:ext cx="3077568" cy="3940024"/>
            <a:chOff x="-66799" y="2902334"/>
            <a:chExt cx="3077568" cy="3940024"/>
          </a:xfrm>
        </p:grpSpPr>
        <p:pic>
          <p:nvPicPr>
            <p:cNvPr id="1026" name="Picture 2" descr="Map&#10;&#10;Description automatically generated">
              <a:extLst>
                <a:ext uri="{FF2B5EF4-FFF2-40B4-BE49-F238E27FC236}">
                  <a16:creationId xmlns:a16="http://schemas.microsoft.com/office/drawing/2014/main" id="{1CB7A6EC-82A4-06F9-26B7-77FD91A72C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720" y="2902334"/>
              <a:ext cx="2649015" cy="33458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037" name="Group 1036">
              <a:extLst>
                <a:ext uri="{FF2B5EF4-FFF2-40B4-BE49-F238E27FC236}">
                  <a16:creationId xmlns:a16="http://schemas.microsoft.com/office/drawing/2014/main" id="{BF8410E5-DD16-AE2A-A145-933A934C8763}"/>
                </a:ext>
              </a:extLst>
            </p:cNvPr>
            <p:cNvGrpSpPr/>
            <p:nvPr/>
          </p:nvGrpSpPr>
          <p:grpSpPr>
            <a:xfrm>
              <a:off x="-66799" y="6209620"/>
              <a:ext cx="3077568" cy="632738"/>
              <a:chOff x="155921" y="4977265"/>
              <a:chExt cx="3077568" cy="632738"/>
            </a:xfrm>
          </p:grpSpPr>
          <p:pic>
            <p:nvPicPr>
              <p:cNvPr id="1028" name="Picture 4">
                <a:extLst>
                  <a:ext uri="{FF2B5EF4-FFF2-40B4-BE49-F238E27FC236}">
                    <a16:creationId xmlns:a16="http://schemas.microsoft.com/office/drawing/2014/main" id="{2A7BB2B3-32A9-B38D-3F5C-BCEFF0D2163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0755" y="5214908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9" name="Picture 5">
                <a:extLst>
                  <a:ext uri="{FF2B5EF4-FFF2-40B4-BE49-F238E27FC236}">
                    <a16:creationId xmlns:a16="http://schemas.microsoft.com/office/drawing/2014/main" id="{5D5AEAE0-BDAC-F84C-E448-A3FBE0DEBC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0755" y="5401673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0" name="Picture 6">
                <a:extLst>
                  <a:ext uri="{FF2B5EF4-FFF2-40B4-BE49-F238E27FC236}">
                    <a16:creationId xmlns:a16="http://schemas.microsoft.com/office/drawing/2014/main" id="{1200DB83-977E-A67F-28A1-6B8C31E98B7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51538" y="5230381"/>
                <a:ext cx="200025" cy="1428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1" name="Picture 7">
                <a:extLst>
                  <a:ext uri="{FF2B5EF4-FFF2-40B4-BE49-F238E27FC236}">
                    <a16:creationId xmlns:a16="http://schemas.microsoft.com/office/drawing/2014/main" id="{0FD1005F-B23C-3429-0A82-F15A0AF3F35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49507" y="5396934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7AC6ADA6-883C-B585-476B-7A86A5ABFB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58072" y="5226061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3" name="Picture 9">
                <a:extLst>
                  <a:ext uri="{FF2B5EF4-FFF2-40B4-BE49-F238E27FC236}">
                    <a16:creationId xmlns:a16="http://schemas.microsoft.com/office/drawing/2014/main" id="{30EA9CA6-7011-C116-3121-106B185087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67597" y="5412826"/>
                <a:ext cx="190500" cy="1428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27" name="TextBox 28">
                <a:extLst>
                  <a:ext uri="{FF2B5EF4-FFF2-40B4-BE49-F238E27FC236}">
                    <a16:creationId xmlns:a16="http://schemas.microsoft.com/office/drawing/2014/main" id="{01FE619F-34C9-A253-B791-95D39ED89DF8}"/>
                  </a:ext>
                </a:extLst>
              </p:cNvPr>
              <p:cNvSpPr txBox="1"/>
              <p:nvPr/>
            </p:nvSpPr>
            <p:spPr>
              <a:xfrm>
                <a:off x="427998" y="5142371"/>
                <a:ext cx="828174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Equatorial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4" name="TextBox 29">
                <a:extLst>
                  <a:ext uri="{FF2B5EF4-FFF2-40B4-BE49-F238E27FC236}">
                    <a16:creationId xmlns:a16="http://schemas.microsoft.com/office/drawing/2014/main" id="{5DFBFA3D-1702-5249-608B-19D55593EF15}"/>
                  </a:ext>
                </a:extLst>
              </p:cNvPr>
              <p:cNvSpPr txBox="1"/>
              <p:nvPr/>
            </p:nvSpPr>
            <p:spPr>
              <a:xfrm>
                <a:off x="438749" y="5326976"/>
                <a:ext cx="705310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Tropical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5" name="TextBox 30">
                <a:extLst>
                  <a:ext uri="{FF2B5EF4-FFF2-40B4-BE49-F238E27FC236}">
                    <a16:creationId xmlns:a16="http://schemas.microsoft.com/office/drawing/2014/main" id="{6F530ABC-A178-6C78-CDD3-AF7F2A5DD74E}"/>
                  </a:ext>
                </a:extLst>
              </p:cNvPr>
              <p:cNvSpPr txBox="1"/>
              <p:nvPr/>
            </p:nvSpPr>
            <p:spPr>
              <a:xfrm>
                <a:off x="1409532" y="5153524"/>
                <a:ext cx="883275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Sub-tropical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7" name="TextBox 31">
                <a:extLst>
                  <a:ext uri="{FF2B5EF4-FFF2-40B4-BE49-F238E27FC236}">
                    <a16:creationId xmlns:a16="http://schemas.microsoft.com/office/drawing/2014/main" id="{211D0BD0-434D-4ED8-D243-A7BC53963359}"/>
                  </a:ext>
                </a:extLst>
              </p:cNvPr>
              <p:cNvSpPr txBox="1"/>
              <p:nvPr/>
            </p:nvSpPr>
            <p:spPr>
              <a:xfrm>
                <a:off x="1399707" y="5334733"/>
                <a:ext cx="849586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Temperate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4" name="TextBox 32">
                <a:extLst>
                  <a:ext uri="{FF2B5EF4-FFF2-40B4-BE49-F238E27FC236}">
                    <a16:creationId xmlns:a16="http://schemas.microsoft.com/office/drawing/2014/main" id="{336646C3-DDAE-53DC-527C-CB55DDCF6E4E}"/>
                  </a:ext>
                </a:extLst>
              </p:cNvPr>
              <p:cNvSpPr txBox="1"/>
              <p:nvPr/>
            </p:nvSpPr>
            <p:spPr>
              <a:xfrm>
                <a:off x="2416066" y="5350701"/>
                <a:ext cx="523329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Arid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5" name="TextBox 33">
                <a:extLst>
                  <a:ext uri="{FF2B5EF4-FFF2-40B4-BE49-F238E27FC236}">
                    <a16:creationId xmlns:a16="http://schemas.microsoft.com/office/drawing/2014/main" id="{97A5F9A3-AE4A-92C0-4C72-BB794AE5C260}"/>
                  </a:ext>
                </a:extLst>
              </p:cNvPr>
              <p:cNvSpPr txBox="1"/>
              <p:nvPr/>
            </p:nvSpPr>
            <p:spPr>
              <a:xfrm>
                <a:off x="2416383" y="5169024"/>
                <a:ext cx="817106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Savannah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6" name="TextBox 190">
                <a:extLst>
                  <a:ext uri="{FF2B5EF4-FFF2-40B4-BE49-F238E27FC236}">
                    <a16:creationId xmlns:a16="http://schemas.microsoft.com/office/drawing/2014/main" id="{6C314938-6854-3B2E-67B1-815C8CD72678}"/>
                  </a:ext>
                </a:extLst>
              </p:cNvPr>
              <p:cNvSpPr txBox="1"/>
              <p:nvPr/>
            </p:nvSpPr>
            <p:spPr>
              <a:xfrm>
                <a:off x="155921" y="4977265"/>
                <a:ext cx="2272869" cy="2561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US" sz="1067" i="1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</a:rPr>
                  <a:t>C</a:t>
                </a:r>
                <a:r>
                  <a:rPr lang="en-AU" sz="1067" i="1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</a:rPr>
                  <a:t>LIMATE  REGIONS</a:t>
                </a:r>
              </a:p>
            </p:txBody>
          </p:sp>
        </p:grpSp>
        <p:pic>
          <p:nvPicPr>
            <p:cNvPr id="1040" name="Picture 11" descr="Coral reefs like the Great Barrier Reef off the coast of Queensland, Australia, support diverse marine populations in unique underwater ecosystems.">
              <a:extLst>
                <a:ext uri="{FF2B5EF4-FFF2-40B4-BE49-F238E27FC236}">
                  <a16:creationId xmlns:a16="http://schemas.microsoft.com/office/drawing/2014/main" id="{DE7FBB23-6827-7724-5ADC-7E3DA98B70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53340" y="3891824"/>
              <a:ext cx="1002177" cy="6758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42" name="TextBox 1041">
            <a:extLst>
              <a:ext uri="{FF2B5EF4-FFF2-40B4-BE49-F238E27FC236}">
                <a16:creationId xmlns:a16="http://schemas.microsoft.com/office/drawing/2014/main" id="{91DE07C5-F3E5-FA5C-129C-C1BB69827541}"/>
              </a:ext>
            </a:extLst>
          </p:cNvPr>
          <p:cNvSpPr txBox="1"/>
          <p:nvPr/>
        </p:nvSpPr>
        <p:spPr>
          <a:xfrm>
            <a:off x="0" y="0"/>
            <a:ext cx="107321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sz="2800" b="1" i="0" dirty="0">
                <a:solidFill>
                  <a:srgbClr val="003152"/>
                </a:solidFill>
                <a:effectLst/>
                <a:latin typeface="+mj-lt"/>
              </a:rPr>
              <a:t>Why downscaling?</a:t>
            </a:r>
            <a:endParaRPr lang="en-AU" sz="2800" b="1" i="1" dirty="0">
              <a:solidFill>
                <a:srgbClr val="003152"/>
              </a:solidFill>
              <a:effectLst/>
              <a:latin typeface="+mj-lt"/>
            </a:endParaRPr>
          </a:p>
        </p:txBody>
      </p:sp>
      <p:pic>
        <p:nvPicPr>
          <p:cNvPr id="1045" name="Graphic 1044" descr="Tornado with solid fill">
            <a:extLst>
              <a:ext uri="{FF2B5EF4-FFF2-40B4-BE49-F238E27FC236}">
                <a16:creationId xmlns:a16="http://schemas.microsoft.com/office/drawing/2014/main" id="{AB7702CF-DB69-8054-8CA8-172D1B0EBA2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04167" y="3224444"/>
            <a:ext cx="714763" cy="714763"/>
          </a:xfrm>
          <a:prstGeom prst="rect">
            <a:avLst/>
          </a:prstGeom>
        </p:spPr>
      </p:pic>
      <p:grpSp>
        <p:nvGrpSpPr>
          <p:cNvPr id="1052" name="Group 1051">
            <a:extLst>
              <a:ext uri="{FF2B5EF4-FFF2-40B4-BE49-F238E27FC236}">
                <a16:creationId xmlns:a16="http://schemas.microsoft.com/office/drawing/2014/main" id="{7F279B5A-8EC9-749F-755A-DD9B2CE13353}"/>
              </a:ext>
            </a:extLst>
          </p:cNvPr>
          <p:cNvGrpSpPr/>
          <p:nvPr/>
        </p:nvGrpSpPr>
        <p:grpSpPr>
          <a:xfrm>
            <a:off x="1136434" y="474881"/>
            <a:ext cx="5281951" cy="2625723"/>
            <a:chOff x="1136434" y="474881"/>
            <a:chExt cx="5281951" cy="2625723"/>
          </a:xfrm>
        </p:grpSpPr>
        <p:pic>
          <p:nvPicPr>
            <p:cNvPr id="1044" name="Picture 1043">
              <a:extLst>
                <a:ext uri="{FF2B5EF4-FFF2-40B4-BE49-F238E27FC236}">
                  <a16:creationId xmlns:a16="http://schemas.microsoft.com/office/drawing/2014/main" id="{6C7D2930-51AB-9894-4022-2D194E74F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177917" y="776137"/>
              <a:ext cx="4878445" cy="2324467"/>
            </a:xfrm>
            <a:prstGeom prst="rect">
              <a:avLst/>
            </a:prstGeom>
          </p:spPr>
        </p:pic>
        <p:sp>
          <p:nvSpPr>
            <p:cNvPr id="1047" name="TextBox 1046">
              <a:extLst>
                <a:ext uri="{FF2B5EF4-FFF2-40B4-BE49-F238E27FC236}">
                  <a16:creationId xmlns:a16="http://schemas.microsoft.com/office/drawing/2014/main" id="{3F31BF16-01FD-04E3-A31D-5815DBEAC37F}"/>
                </a:ext>
              </a:extLst>
            </p:cNvPr>
            <p:cNvSpPr txBox="1"/>
            <p:nvPr/>
          </p:nvSpPr>
          <p:spPr>
            <a:xfrm>
              <a:off x="1136434" y="474881"/>
              <a:ext cx="52819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olidFill>
                    <a:schemeClr val="tx2"/>
                  </a:solidFill>
                  <a:latin typeface="+mj-lt"/>
                </a:rPr>
                <a:t>1) Global models do not represent well our climate</a:t>
              </a:r>
            </a:p>
          </p:txBody>
        </p:sp>
      </p:grpSp>
      <p:sp>
        <p:nvSpPr>
          <p:cNvPr id="1048" name="TextBox 1047">
            <a:extLst>
              <a:ext uri="{FF2B5EF4-FFF2-40B4-BE49-F238E27FC236}">
                <a16:creationId xmlns:a16="http://schemas.microsoft.com/office/drawing/2014/main" id="{C551EC6A-660A-53C9-301D-4DBA696D6176}"/>
              </a:ext>
            </a:extLst>
          </p:cNvPr>
          <p:cNvSpPr txBox="1"/>
          <p:nvPr/>
        </p:nvSpPr>
        <p:spPr>
          <a:xfrm>
            <a:off x="12098" y="2366313"/>
            <a:ext cx="21812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solidFill>
                  <a:schemeClr val="tx2"/>
                </a:solidFill>
                <a:latin typeface="+mj-lt"/>
              </a:rPr>
              <a:t>3) QLD climate and features are unique</a:t>
            </a:r>
          </a:p>
        </p:txBody>
      </p:sp>
      <p:grpSp>
        <p:nvGrpSpPr>
          <p:cNvPr id="1056" name="Group 1055">
            <a:extLst>
              <a:ext uri="{FF2B5EF4-FFF2-40B4-BE49-F238E27FC236}">
                <a16:creationId xmlns:a16="http://schemas.microsoft.com/office/drawing/2014/main" id="{4FF1F40E-5A98-CA91-8E7F-21952D3E78D1}"/>
              </a:ext>
            </a:extLst>
          </p:cNvPr>
          <p:cNvGrpSpPr/>
          <p:nvPr/>
        </p:nvGrpSpPr>
        <p:grpSpPr>
          <a:xfrm>
            <a:off x="7107688" y="186176"/>
            <a:ext cx="5084312" cy="6629400"/>
            <a:chOff x="7107688" y="186176"/>
            <a:chExt cx="5084312" cy="662940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2050111-3DC8-DC65-8BAB-A229971F68F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035"/>
            <a:stretch/>
          </p:blipFill>
          <p:spPr>
            <a:xfrm>
              <a:off x="7107688" y="186176"/>
              <a:ext cx="5084312" cy="6629400"/>
            </a:xfrm>
            <a:prstGeom prst="rect">
              <a:avLst/>
            </a:prstGeom>
          </p:spPr>
        </p:pic>
        <p:sp>
          <p:nvSpPr>
            <p:cNvPr id="1050" name="TextBox 1049">
              <a:extLst>
                <a:ext uri="{FF2B5EF4-FFF2-40B4-BE49-F238E27FC236}">
                  <a16:creationId xmlns:a16="http://schemas.microsoft.com/office/drawing/2014/main" id="{EA6AFDC9-308C-2D9D-DEFF-C828A22A60ED}"/>
                </a:ext>
              </a:extLst>
            </p:cNvPr>
            <p:cNvSpPr txBox="1"/>
            <p:nvPr/>
          </p:nvSpPr>
          <p:spPr>
            <a:xfrm>
              <a:off x="8789845" y="261610"/>
              <a:ext cx="323274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olidFill>
                    <a:schemeClr val="tx2"/>
                  </a:solidFill>
                  <a:latin typeface="+mj-lt"/>
                </a:rPr>
                <a:t>2) Global models misrepresent our landscapes and regional climate granularity</a:t>
              </a:r>
            </a:p>
          </p:txBody>
        </p:sp>
      </p:grpSp>
      <p:grpSp>
        <p:nvGrpSpPr>
          <p:cNvPr id="1058" name="Group 1057">
            <a:extLst>
              <a:ext uri="{FF2B5EF4-FFF2-40B4-BE49-F238E27FC236}">
                <a16:creationId xmlns:a16="http://schemas.microsoft.com/office/drawing/2014/main" id="{2ACBE9AB-1A61-B8E5-0606-AE6DF0431494}"/>
              </a:ext>
            </a:extLst>
          </p:cNvPr>
          <p:cNvGrpSpPr/>
          <p:nvPr/>
        </p:nvGrpSpPr>
        <p:grpSpPr>
          <a:xfrm>
            <a:off x="3518664" y="3116619"/>
            <a:ext cx="3694862" cy="3698957"/>
            <a:chOff x="3518664" y="3116619"/>
            <a:chExt cx="3694862" cy="3698957"/>
          </a:xfrm>
        </p:grpSpPr>
        <p:grpSp>
          <p:nvGrpSpPr>
            <p:cNvPr id="1055" name="Group 1054">
              <a:extLst>
                <a:ext uri="{FF2B5EF4-FFF2-40B4-BE49-F238E27FC236}">
                  <a16:creationId xmlns:a16="http://schemas.microsoft.com/office/drawing/2014/main" id="{F7FB66CB-FEDF-2EC3-CAC1-24FA8618BFDF}"/>
                </a:ext>
              </a:extLst>
            </p:cNvPr>
            <p:cNvGrpSpPr/>
            <p:nvPr/>
          </p:nvGrpSpPr>
          <p:grpSpPr>
            <a:xfrm>
              <a:off x="3518664" y="3116619"/>
              <a:ext cx="3694862" cy="3698957"/>
              <a:chOff x="3518664" y="3116619"/>
              <a:chExt cx="3694862" cy="3698957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229E4AFA-31EC-AB2A-5D5A-23CC013F21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589255" y="3677216"/>
                <a:ext cx="3368071" cy="3138360"/>
              </a:xfrm>
              <a:prstGeom prst="rect">
                <a:avLst/>
              </a:prstGeom>
            </p:spPr>
          </p:pic>
          <p:sp>
            <p:nvSpPr>
              <p:cNvPr id="1049" name="TextBox 1048">
                <a:extLst>
                  <a:ext uri="{FF2B5EF4-FFF2-40B4-BE49-F238E27FC236}">
                    <a16:creationId xmlns:a16="http://schemas.microsoft.com/office/drawing/2014/main" id="{313B6823-4D3C-AC26-F8E1-B50BEF77AFFD}"/>
                  </a:ext>
                </a:extLst>
              </p:cNvPr>
              <p:cNvSpPr txBox="1"/>
              <p:nvPr/>
            </p:nvSpPr>
            <p:spPr>
              <a:xfrm>
                <a:off x="3518664" y="3116619"/>
                <a:ext cx="369486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U" dirty="0">
                    <a:solidFill>
                      <a:schemeClr val="tx2"/>
                    </a:solidFill>
                    <a:latin typeface="+mj-lt"/>
                  </a:rPr>
                  <a:t>4) Global models underestimate extremes and risks </a:t>
                </a:r>
              </a:p>
            </p:txBody>
          </p:sp>
        </p:grpSp>
        <p:sp>
          <p:nvSpPr>
            <p:cNvPr id="1057" name="TextBox 1056">
              <a:extLst>
                <a:ext uri="{FF2B5EF4-FFF2-40B4-BE49-F238E27FC236}">
                  <a16:creationId xmlns:a16="http://schemas.microsoft.com/office/drawing/2014/main" id="{4BA9AA9E-ED10-4C8C-2D23-6BFC3DCC7D8C}"/>
                </a:ext>
              </a:extLst>
            </p:cNvPr>
            <p:cNvSpPr txBox="1"/>
            <p:nvPr/>
          </p:nvSpPr>
          <p:spPr>
            <a:xfrm>
              <a:off x="3606375" y="6220996"/>
              <a:ext cx="2229230" cy="461665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tx2"/>
                  </a:solidFill>
                  <a:latin typeface="+mj-lt"/>
                </a:rPr>
                <a:t>Precipitation Intensity(mm/day)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82432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F7DE8-3EF8-74A1-1885-96232EED1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Downscaling improvements to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34BA2D-A3B7-67BC-F4C5-A491321FBD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38349"/>
            <a:ext cx="4119666" cy="5154526"/>
          </a:xfrm>
        </p:spPr>
        <p:txBody>
          <a:bodyPr>
            <a:normAutofit lnSpcReduction="10000"/>
          </a:bodyPr>
          <a:lstStyle/>
          <a:p>
            <a:r>
              <a:rPr lang="en-AU" dirty="0"/>
              <a:t>Downscaling improved performance in all regions of Queensland</a:t>
            </a: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Largest improvement along coasts, mountains, for extremes</a:t>
            </a:r>
          </a:p>
          <a:p>
            <a:endParaRPr lang="en-AU" dirty="0"/>
          </a:p>
          <a:p>
            <a:r>
              <a:rPr lang="en-AU" dirty="0"/>
              <a:t>Data available: </a:t>
            </a:r>
            <a:r>
              <a:rPr lang="en-AU" b="0" i="0" u="sng" dirty="0">
                <a:solidFill>
                  <a:srgbClr val="214F77"/>
                </a:solidFill>
                <a:effectLst/>
                <a:latin typeface="Helvetica Neue"/>
                <a:hlinkClick r:id="rId2"/>
              </a:rPr>
              <a:t>https://dx.doi.org/10.25914/8fve-1910</a:t>
            </a:r>
            <a:endParaRPr lang="en-AU" dirty="0"/>
          </a:p>
        </p:txBody>
      </p:sp>
      <p:pic>
        <p:nvPicPr>
          <p:cNvPr id="4" name="Picture 3" descr="Map&#10;&#10;Description automatically generated">
            <a:extLst>
              <a:ext uri="{FF2B5EF4-FFF2-40B4-BE49-F238E27FC236}">
                <a16:creationId xmlns:a16="http://schemas.microsoft.com/office/drawing/2014/main" id="{11CB94A9-0B76-2863-EE6F-B5C1A62E63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7866" y="1144588"/>
            <a:ext cx="5911662" cy="4925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676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02612-F4C0-4E37-A101-FAF461B17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CMIP6 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65C395-3FBC-26FA-77C3-47675FD24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244788" cy="4789400"/>
          </a:xfrm>
        </p:spPr>
        <p:txBody>
          <a:bodyPr/>
          <a:lstStyle/>
          <a:p>
            <a:r>
              <a:rPr lang="en-AU" dirty="0"/>
              <a:t>Three climate change scenarios (SSP126, 245, 370)</a:t>
            </a:r>
          </a:p>
          <a:p>
            <a:r>
              <a:rPr lang="en-AU" dirty="0"/>
              <a:t>15 simulations per scenario</a:t>
            </a:r>
          </a:p>
          <a:p>
            <a:r>
              <a:rPr lang="en-AU" dirty="0"/>
              <a:t>Multiple regions</a:t>
            </a:r>
          </a:p>
          <a:p>
            <a:pPr lvl="1"/>
            <a:r>
              <a:rPr lang="en-AU" dirty="0"/>
              <a:t>LGAs</a:t>
            </a:r>
          </a:p>
          <a:p>
            <a:pPr lvl="1"/>
            <a:r>
              <a:rPr lang="en-AU" dirty="0"/>
              <a:t>NRMs</a:t>
            </a:r>
          </a:p>
          <a:p>
            <a:pPr lvl="1"/>
            <a:r>
              <a:rPr lang="en-AU" dirty="0"/>
              <a:t>River basins</a:t>
            </a:r>
          </a:p>
          <a:p>
            <a:pPr lvl="1"/>
            <a:r>
              <a:rPr lang="en-AU" dirty="0"/>
              <a:t>etc</a:t>
            </a:r>
          </a:p>
          <a:p>
            <a:r>
              <a:rPr lang="en-AU" dirty="0"/>
              <a:t>Multiple indices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D36EB5-88A7-E2A4-8F29-23AB0264F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4171" y="161365"/>
            <a:ext cx="6427245" cy="58429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82EAE5-512B-1D2D-FA63-DB2851055CB8}"/>
              </a:ext>
            </a:extLst>
          </p:cNvPr>
          <p:cNvSpPr txBox="1"/>
          <p:nvPr/>
        </p:nvSpPr>
        <p:spPr>
          <a:xfrm>
            <a:off x="3595642" y="6308209"/>
            <a:ext cx="609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3"/>
              </a:rPr>
              <a:t>https://longpaddock.qld.gov.au/qld-future-climate/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95604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1860B-71A9-6DFB-59BE-F707F4969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are we doing today?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1F4C0-A05D-F364-AABF-166EA1825E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Import climate data into R</a:t>
            </a:r>
          </a:p>
          <a:p>
            <a:pPr lvl="1"/>
            <a:r>
              <a:rPr lang="en-AU" dirty="0"/>
              <a:t>Three models (ACCESS-ESM1-5)</a:t>
            </a:r>
          </a:p>
          <a:p>
            <a:pPr lvl="1"/>
            <a:r>
              <a:rPr lang="en-AU" dirty="0"/>
              <a:t>Two climate scenarios (SSP126, SSP245)</a:t>
            </a:r>
          </a:p>
          <a:p>
            <a:endParaRPr lang="en-AU" dirty="0"/>
          </a:p>
          <a:p>
            <a:r>
              <a:rPr lang="en-AU" dirty="0"/>
              <a:t>Plot the data</a:t>
            </a:r>
          </a:p>
          <a:p>
            <a:endParaRPr lang="en-AU" dirty="0"/>
          </a:p>
          <a:p>
            <a:r>
              <a:rPr lang="en-AU" dirty="0"/>
              <a:t>Calculate climate change impacts</a:t>
            </a:r>
          </a:p>
          <a:p>
            <a:endParaRPr lang="en-AU" dirty="0"/>
          </a:p>
          <a:p>
            <a:r>
              <a:rPr lang="en-AU" dirty="0"/>
              <a:t>Calculate bioclimatic indices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876081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F2F16-BDDC-1552-565A-152425FC0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What does a more realistic workflow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49618-4555-20F8-DE05-E477030E0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AU" dirty="0"/>
              <a:t>Find your data</a:t>
            </a:r>
          </a:p>
          <a:p>
            <a:endParaRPr lang="en-AU" dirty="0"/>
          </a:p>
          <a:p>
            <a:r>
              <a:rPr lang="en-AU" dirty="0"/>
              <a:t>Evaluate against observations</a:t>
            </a:r>
          </a:p>
          <a:p>
            <a:pPr lvl="1"/>
            <a:r>
              <a:rPr lang="en-AU" dirty="0">
                <a:effectLst/>
              </a:rPr>
              <a:t>Chapman, S., Syktus, J., Trancoso, R., Thatcher, M., Toombs, N., Wong, K. K.-H., &amp; Takbash, A. (2023). Evaluation of Dynamically Downscaled CMIP6-CCAM Models Over Australia. </a:t>
            </a:r>
            <a:r>
              <a:rPr lang="en-AU" i="1" dirty="0">
                <a:effectLst/>
              </a:rPr>
              <a:t>Earth’s Future</a:t>
            </a:r>
            <a:r>
              <a:rPr lang="en-AU" dirty="0">
                <a:effectLst/>
              </a:rPr>
              <a:t>, </a:t>
            </a:r>
            <a:r>
              <a:rPr lang="en-AU" i="1" dirty="0">
                <a:effectLst/>
              </a:rPr>
              <a:t>11</a:t>
            </a:r>
            <a:r>
              <a:rPr lang="en-AU" dirty="0">
                <a:effectLst/>
              </a:rPr>
              <a:t>(11), e2023EF003548. </a:t>
            </a:r>
            <a:r>
              <a:rPr lang="en-AU" dirty="0">
                <a:effectLst/>
                <a:hlinkClick r:id="rId2"/>
              </a:rPr>
              <a:t>https://doi.org/10.1029/2023EF003548</a:t>
            </a:r>
            <a:endParaRPr lang="en-AU" dirty="0">
              <a:effectLst/>
            </a:endParaRP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Bias correct</a:t>
            </a:r>
          </a:p>
          <a:p>
            <a:pPr lvl="1"/>
            <a:r>
              <a:rPr lang="en-AU" dirty="0"/>
              <a:t>Our bioclimatic indices (will be used tomorrow) have been statistically downscaled (5 km) and bias corrected</a:t>
            </a:r>
          </a:p>
          <a:p>
            <a:endParaRPr lang="en-AU" dirty="0"/>
          </a:p>
          <a:p>
            <a:r>
              <a:rPr lang="en-AU" dirty="0"/>
              <a:t>Evaluate some more</a:t>
            </a:r>
          </a:p>
          <a:p>
            <a:endParaRPr lang="en-AU" dirty="0"/>
          </a:p>
          <a:p>
            <a:r>
              <a:rPr lang="en-AU" dirty="0"/>
              <a:t>Calculate your indices</a:t>
            </a:r>
          </a:p>
        </p:txBody>
      </p:sp>
    </p:spTree>
    <p:extLst>
      <p:ext uri="{BB962C8B-B14F-4D97-AF65-F5344CB8AC3E}">
        <p14:creationId xmlns:p14="http://schemas.microsoft.com/office/powerpoint/2010/main" val="52680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34DDE-8310-D8CD-D32A-105F7D15A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0DC2066-8FA7-9560-BE62-7D51F06E9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75995"/>
            <a:ext cx="10515600" cy="779463"/>
          </a:xfrm>
        </p:spPr>
        <p:txBody>
          <a:bodyPr/>
          <a:lstStyle/>
          <a:p>
            <a:r>
              <a:rPr lang="en-AU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7938078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DAF42-6484-F70A-B49F-4B8CC92A8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Getting started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FECFD3-E895-E743-E134-850D034D1CCB}"/>
              </a:ext>
            </a:extLst>
          </p:cNvPr>
          <p:cNvSpPr txBox="1"/>
          <p:nvPr/>
        </p:nvSpPr>
        <p:spPr>
          <a:xfrm>
            <a:off x="3048000" y="139022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2"/>
              </a:rPr>
              <a:t>https://github.com/sdesrosiers1989/ICCB_Projections</a:t>
            </a:r>
            <a:endParaRPr lang="en-AU" dirty="0"/>
          </a:p>
        </p:txBody>
      </p:sp>
      <p:pic>
        <p:nvPicPr>
          <p:cNvPr id="5" name="Picture 2" descr="GitHub Download PNG Image | PNG Mart">
            <a:extLst>
              <a:ext uri="{FF2B5EF4-FFF2-40B4-BE49-F238E27FC236}">
                <a16:creationId xmlns:a16="http://schemas.microsoft.com/office/drawing/2014/main" id="{8301279F-6FAC-71AD-80BC-5B4C30A5A6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4060" y="1144588"/>
            <a:ext cx="1290918" cy="860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03BEB5B-68AF-05CC-78B5-DDD09101E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4155" y="2250840"/>
            <a:ext cx="8734425" cy="420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05806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QT Toolkit">
      <a:dk1>
        <a:srgbClr val="000000"/>
      </a:dk1>
      <a:lt1>
        <a:srgbClr val="FFFFFF"/>
      </a:lt1>
      <a:dk2>
        <a:srgbClr val="5A5A5A"/>
      </a:dk2>
      <a:lt2>
        <a:srgbClr val="FFFFFF"/>
      </a:lt2>
      <a:accent1>
        <a:srgbClr val="003051"/>
      </a:accent1>
      <a:accent2>
        <a:srgbClr val="799FB1"/>
      </a:accent2>
      <a:accent3>
        <a:srgbClr val="CBB57C"/>
      </a:accent3>
      <a:accent4>
        <a:srgbClr val="4D4D4D"/>
      </a:accent4>
      <a:accent5>
        <a:srgbClr val="A5A5A5"/>
      </a:accent5>
      <a:accent6>
        <a:srgbClr val="DCDDDE"/>
      </a:accent6>
      <a:hlink>
        <a:srgbClr val="CBB57B"/>
      </a:hlink>
      <a:folHlink>
        <a:srgbClr val="CBB57B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0f0a826-7bbf-4c4f-9e5c-4bf4033bef71">
      <Terms xmlns="http://schemas.microsoft.com/office/infopath/2007/PartnerControls"/>
    </lcf76f155ced4ddcb4097134ff3c332f>
    <TaxCatchAll xmlns="b3269b26-c524-4f65-957f-5406fc8c01d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B95AE24CFF80F4FB407CC28A5A8289F" ma:contentTypeVersion="19" ma:contentTypeDescription="Create a new document." ma:contentTypeScope="" ma:versionID="2eadc98cb3cb4ce4df7cbde518883c36">
  <xsd:schema xmlns:xsd="http://www.w3.org/2001/XMLSchema" xmlns:xs="http://www.w3.org/2001/XMLSchema" xmlns:p="http://schemas.microsoft.com/office/2006/metadata/properties" xmlns:ns2="b0f0a826-7bbf-4c4f-9e5c-4bf4033bef71" xmlns:ns3="b3269b26-c524-4f65-957f-5406fc8c01de" targetNamespace="http://schemas.microsoft.com/office/2006/metadata/properties" ma:root="true" ma:fieldsID="7972969f7f8ac0f9ea777c96f558746f" ns2:_="" ns3:_="">
    <xsd:import namespace="b0f0a826-7bbf-4c4f-9e5c-4bf4033bef71"/>
    <xsd:import namespace="b3269b26-c524-4f65-957f-5406fc8c01d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ObjectDetectorVersion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f0a826-7bbf-4c4f-9e5c-4bf4033bef7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2ce70b5f-7cdc-4e64-9a67-dcab2ee1b5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269b26-c524-4f65-957f-5406fc8c01de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d551bdb5-db0a-47fe-a757-fdc0200a9a25}" ma:internalName="TaxCatchAll" ma:showField="CatchAllData" ma:web="b3269b26-c524-4f65-957f-5406fc8c01d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E8C3FBB-16C2-46E1-AAEC-5CCB0B47A9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5F65686-6421-4223-A902-93031905F712}">
  <ds:schemaRefs>
    <ds:schemaRef ds:uri="http://schemas.microsoft.com/office/2006/documentManagement/types"/>
    <ds:schemaRef ds:uri="http://purl.org/dc/dcmitype/"/>
    <ds:schemaRef ds:uri="b0f0a826-7bbf-4c4f-9e5c-4bf4033bef71"/>
    <ds:schemaRef ds:uri="http://purl.org/dc/terms/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b3269b26-c524-4f65-957f-5406fc8c01de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1C72707-38A1-46DD-8753-69382A2459C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0f0a826-7bbf-4c4f-9e5c-4bf4033bef71"/>
    <ds:schemaRef ds:uri="b3269b26-c524-4f65-957f-5406fc8c01d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2459</TotalTime>
  <Words>519</Words>
  <Application>Microsoft Office PowerPoint</Application>
  <PresentationFormat>Widescreen</PresentationFormat>
  <Paragraphs>105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Helvetica Neue</vt:lpstr>
      <vt:lpstr>Times New Roman</vt:lpstr>
      <vt:lpstr>Office Theme</vt:lpstr>
      <vt:lpstr>Working with downscaled climate projections in R</vt:lpstr>
      <vt:lpstr>Who are we?</vt:lpstr>
      <vt:lpstr>Who are you?</vt:lpstr>
      <vt:lpstr>Open-source geospatial tools for conservation under climate change - A Koala case study</vt:lpstr>
      <vt:lpstr>Outline</vt:lpstr>
      <vt:lpstr>What is a climate model?</vt:lpstr>
      <vt:lpstr>What are downscaled climate projections?</vt:lpstr>
      <vt:lpstr>PowerPoint Presentation</vt:lpstr>
      <vt:lpstr>Downscaling improvements to performance</vt:lpstr>
      <vt:lpstr>CMIP6 Dashboard</vt:lpstr>
      <vt:lpstr>What are we doing today?</vt:lpstr>
      <vt:lpstr>What does a more realistic workflow look like?</vt:lpstr>
      <vt:lpstr>Questions?</vt:lpstr>
      <vt:lpstr>Getting started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Jackson Turner</dc:creator>
  <cp:lastModifiedBy>Sarah Chapman</cp:lastModifiedBy>
  <cp:revision>355</cp:revision>
  <cp:lastPrinted>2022-06-24T06:31:07Z</cp:lastPrinted>
  <dcterms:created xsi:type="dcterms:W3CDTF">2022-06-01T23:36:27Z</dcterms:created>
  <dcterms:modified xsi:type="dcterms:W3CDTF">2025-05-13T03:49:59Z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b083577-197b-450c-831d-654cf3f56dc2_Enabled">
    <vt:lpwstr>true</vt:lpwstr>
  </property>
  <property fmtid="{D5CDD505-2E9C-101B-9397-08002B2CF9AE}" pid="3" name="MSIP_Label_5b083577-197b-450c-831d-654cf3f56dc2_SetDate">
    <vt:lpwstr>2022-06-01T23:36:28Z</vt:lpwstr>
  </property>
  <property fmtid="{D5CDD505-2E9C-101B-9397-08002B2CF9AE}" pid="4" name="MSIP_Label_5b083577-197b-450c-831d-654cf3f56dc2_Method">
    <vt:lpwstr>Standard</vt:lpwstr>
  </property>
  <property fmtid="{D5CDD505-2E9C-101B-9397-08002B2CF9AE}" pid="5" name="MSIP_Label_5b083577-197b-450c-831d-654cf3f56dc2_Name">
    <vt:lpwstr>OFFICIAL</vt:lpwstr>
  </property>
  <property fmtid="{D5CDD505-2E9C-101B-9397-08002B2CF9AE}" pid="6" name="MSIP_Label_5b083577-197b-450c-831d-654cf3f56dc2_SiteId">
    <vt:lpwstr>823bfb03-da26-4cbf-a7d6-f02dbfdf182e</vt:lpwstr>
  </property>
  <property fmtid="{D5CDD505-2E9C-101B-9397-08002B2CF9AE}" pid="7" name="MSIP_Label_5b083577-197b-450c-831d-654cf3f56dc2_ActionId">
    <vt:lpwstr>d4cfd0b5-6204-412c-8181-69f76a8fd1be</vt:lpwstr>
  </property>
  <property fmtid="{D5CDD505-2E9C-101B-9397-08002B2CF9AE}" pid="8" name="MSIP_Label_5b083577-197b-450c-831d-654cf3f56dc2_ContentBits">
    <vt:lpwstr>0</vt:lpwstr>
  </property>
  <property fmtid="{D5CDD505-2E9C-101B-9397-08002B2CF9AE}" pid="9" name="ContentTypeId">
    <vt:lpwstr>0x0101003B95AE24CFF80F4FB407CC28A5A8289F</vt:lpwstr>
  </property>
  <property fmtid="{D5CDD505-2E9C-101B-9397-08002B2CF9AE}" pid="10" name="QTBusinessOwner">
    <vt:lpwstr/>
  </property>
  <property fmtid="{D5CDD505-2E9C-101B-9397-08002B2CF9AE}" pid="11" name="QTSecurityClassification">
    <vt:lpwstr>1;#OFFICIAL|f67802d0-e2d2-455e-bfc4-106d673b036c</vt:lpwstr>
  </property>
  <property fmtid="{D5CDD505-2E9C-101B-9397-08002B2CF9AE}" pid="12" name="QTRetain">
    <vt:lpwstr>5;#Record|2584089d-4b41-46ae-ad46-8a9fb08e05f7</vt:lpwstr>
  </property>
  <property fmtid="{D5CDD505-2E9C-101B-9397-08002B2CF9AE}" pid="13" name="QTActivity">
    <vt:lpwstr>4;#Agency planning|daa6bcc6-ba33-4768-aa33-9e8f0120aadb</vt:lpwstr>
  </property>
  <property fmtid="{D5CDD505-2E9C-101B-9397-08002B2CF9AE}" pid="14" name="_dlc_DocIdItemGuid">
    <vt:lpwstr>eba76018-6ebd-4726-9235-b46020022a2e</vt:lpwstr>
  </property>
  <property fmtid="{D5CDD505-2E9C-101B-9397-08002B2CF9AE}" pid="15" name="MediaServiceImageTags">
    <vt:lpwstr/>
  </property>
  <property fmtid="{D5CDD505-2E9C-101B-9397-08002B2CF9AE}" pid="16" name="lcf76f155ced4ddcb4097134ff3c332f">
    <vt:lpwstr/>
  </property>
  <property fmtid="{D5CDD505-2E9C-101B-9397-08002B2CF9AE}" pid="17" name="RecordPoint_WorkflowType">
    <vt:lpwstr>ActiveSubmitStub</vt:lpwstr>
  </property>
  <property fmtid="{D5CDD505-2E9C-101B-9397-08002B2CF9AE}" pid="18" name="RecordPoint_ActiveItemWebId">
    <vt:lpwstr>{621cf084-3119-46e0-9e63-2f9d7323e329}</vt:lpwstr>
  </property>
  <property fmtid="{D5CDD505-2E9C-101B-9397-08002B2CF9AE}" pid="19" name="RecordPoint_ActiveItemSiteId">
    <vt:lpwstr>{b4a73f67-0374-40e5-825c-235af9151799}</vt:lpwstr>
  </property>
  <property fmtid="{D5CDD505-2E9C-101B-9397-08002B2CF9AE}" pid="20" name="RecordPoint_ActiveItemListId">
    <vt:lpwstr>{843ed0bc-962f-430c-8cc6-3c93a5dec404}</vt:lpwstr>
  </property>
  <property fmtid="{D5CDD505-2E9C-101B-9397-08002B2CF9AE}" pid="21" name="RecordPoint_ActiveItemUniqueId">
    <vt:lpwstr>{26bf2aa1-4c79-461d-b9d2-1bf49e64fda0}</vt:lpwstr>
  </property>
</Properties>
</file>