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2" r:id="rId15"/>
    <p:sldId id="771" r:id="rId16"/>
    <p:sldId id="781" r:id="rId17"/>
    <p:sldId id="783" r:id="rId18"/>
    <p:sldId id="649" r:id="rId19"/>
    <p:sldId id="791" r:id="rId20"/>
    <p:sldId id="792" r:id="rId21"/>
    <p:sldId id="784" r:id="rId22"/>
    <p:sldId id="785" r:id="rId23"/>
    <p:sldId id="786" r:id="rId24"/>
    <p:sldId id="796" r:id="rId25"/>
    <p:sldId id="793" r:id="rId26"/>
    <p:sldId id="787" r:id="rId27"/>
    <p:sldId id="797" r:id="rId28"/>
    <p:sldId id="788" r:id="rId29"/>
    <p:sldId id="789" r:id="rId30"/>
    <p:sldId id="790" r:id="rId31"/>
    <p:sldId id="799" r:id="rId32"/>
    <p:sldId id="798" r:id="rId33"/>
    <p:sldId id="795" r:id="rId34"/>
    <p:sldId id="794" r:id="rId35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5E31BCD-7F51-5362-E73C-67B950D6E02F}" name="Sarah Chapman" initials="SC" userId="S::Sarah.Chapman@des.qld.gov.au::f3f01bf4-1c8a-44b5-850d-82840047e82b" providerId="AD"/>
  <p188:author id="{4E405CF4-6E88-6081-FAB0-21EB402E8198}" name="Rohan Eccles" initials="RE" userId="S::Rohan.Eccles@des.qld.gov.au::564d4391-8ef7-4616-9190-507970f2c99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51" d="100"/>
          <a:sy n="51" d="100"/>
        </p:scale>
        <p:origin x="845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26/05/2025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26/05/2025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olorbrewer2.org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1,2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976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104" y="2359808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4060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994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5104" y="4703040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746975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289009" y="1492462"/>
            <a:ext cx="4082844" cy="10564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Science leader, coordinator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7E483C-0436-83B5-687C-33AE2AD6CCDE}"/>
              </a:ext>
            </a:extLst>
          </p:cNvPr>
          <p:cNvSpPr txBox="1">
            <a:spLocks/>
          </p:cNvSpPr>
          <p:nvPr/>
        </p:nvSpPr>
        <p:spPr>
          <a:xfrm>
            <a:off x="3026492" y="4232620"/>
            <a:ext cx="3183112" cy="2070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Hydrologist, climate extremes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88D254-D64D-1803-C60D-9C07D7940192}"/>
              </a:ext>
            </a:extLst>
          </p:cNvPr>
          <p:cNvSpPr txBox="1">
            <a:spLocks/>
          </p:cNvSpPr>
          <p:nvPr/>
        </p:nvSpPr>
        <p:spPr>
          <a:xfrm>
            <a:off x="5691368" y="3176135"/>
            <a:ext cx="2709291" cy="105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Applied climate science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 (~ 30 mins each)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Validating data and calculating bioclimatic indices</a:t>
            </a:r>
          </a:p>
          <a:p>
            <a:pPr lvl="1"/>
            <a:endParaRPr lang="en-AU" dirty="0"/>
          </a:p>
          <a:p>
            <a:r>
              <a:rPr lang="en-AU" dirty="0"/>
              <a:t>Start installing packages while we talk!</a:t>
            </a:r>
          </a:p>
          <a:p>
            <a:pPr lvl="1"/>
            <a:r>
              <a:rPr lang="en-AU" dirty="0"/>
              <a:t>terra, </a:t>
            </a:r>
            <a:r>
              <a:rPr lang="en-AU" dirty="0" err="1"/>
              <a:t>dplyr</a:t>
            </a:r>
            <a:r>
              <a:rPr lang="en-AU" dirty="0"/>
              <a:t>, sf, ggplot2, </a:t>
            </a:r>
            <a:r>
              <a:rPr lang="en-AU" dirty="0" err="1"/>
              <a:t>dismo</a:t>
            </a:r>
            <a:r>
              <a:rPr lang="en-AU" dirty="0"/>
              <a:t>, </a:t>
            </a:r>
            <a:r>
              <a:rPr lang="en-AU" dirty="0" err="1"/>
              <a:t>rasterVis</a:t>
            </a:r>
            <a:r>
              <a:rPr lang="en-AU" dirty="0"/>
              <a:t>, reshape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BC40330-E029-480D-59FA-CD903A88F6EC}"/>
              </a:ext>
            </a:extLst>
          </p:cNvPr>
          <p:cNvCxnSpPr>
            <a:cxnSpLocks/>
          </p:cNvCxnSpPr>
          <p:nvPr/>
        </p:nvCxnSpPr>
        <p:spPr>
          <a:xfrm flipH="1">
            <a:off x="11194991" y="2196269"/>
            <a:ext cx="222190" cy="1623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69ED944-16AC-4784-85AF-84E31CA6D816}"/>
              </a:ext>
            </a:extLst>
          </p:cNvPr>
          <p:cNvSpPr txBox="1">
            <a:spLocks/>
          </p:cNvSpPr>
          <p:nvPr/>
        </p:nvSpPr>
        <p:spPr>
          <a:xfrm>
            <a:off x="11382997" y="1820635"/>
            <a:ext cx="700755" cy="75126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400" dirty="0"/>
              <a:t>Large model range!</a:t>
            </a:r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39186A-2D72-F2EB-BA01-F8DC92133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431" y="707878"/>
            <a:ext cx="6117429" cy="51983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7FC7B4-4926-63AA-9244-3470B1C97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40" y="692583"/>
            <a:ext cx="3991338" cy="5311516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6CF2F603-119E-0AE9-4F21-DD57E68187E1}"/>
              </a:ext>
            </a:extLst>
          </p:cNvPr>
          <p:cNvGrpSpPr/>
          <p:nvPr/>
        </p:nvGrpSpPr>
        <p:grpSpPr>
          <a:xfrm>
            <a:off x="2092569" y="774685"/>
            <a:ext cx="5591908" cy="4799638"/>
            <a:chOff x="2092569" y="774685"/>
            <a:chExt cx="5591908" cy="47996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47C3C6C-0512-423C-114A-7D942D826069}"/>
                </a:ext>
              </a:extLst>
            </p:cNvPr>
            <p:cNvSpPr/>
            <p:nvPr/>
          </p:nvSpPr>
          <p:spPr>
            <a:xfrm>
              <a:off x="6149806" y="774685"/>
              <a:ext cx="1534671" cy="4799638"/>
            </a:xfrm>
            <a:prstGeom prst="rect">
              <a:avLst/>
            </a:prstGeom>
            <a:solidFill>
              <a:srgbClr val="FFFF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FFABC92-8BE2-65F3-C81F-6DC57DDE4960}"/>
                </a:ext>
              </a:extLst>
            </p:cNvPr>
            <p:cNvSpPr/>
            <p:nvPr/>
          </p:nvSpPr>
          <p:spPr>
            <a:xfrm>
              <a:off x="2092569" y="3437792"/>
              <a:ext cx="474785" cy="534154"/>
            </a:xfrm>
            <a:prstGeom prst="ellipse">
              <a:avLst/>
            </a:prstGeom>
            <a:solidFill>
              <a:srgbClr val="FFFF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302ABCE-0C89-35F8-86D4-14A4D161545A}"/>
                </a:ext>
              </a:extLst>
            </p:cNvPr>
            <p:cNvCxnSpPr>
              <a:cxnSpLocks/>
              <a:stCxn id="9" idx="4"/>
            </p:cNvCxnSpPr>
            <p:nvPr/>
          </p:nvCxnSpPr>
          <p:spPr>
            <a:xfrm rot="5400000" flipH="1" flipV="1">
              <a:off x="2729805" y="551944"/>
              <a:ext cx="3020159" cy="3819846"/>
            </a:xfrm>
            <a:prstGeom prst="bentConnector4">
              <a:avLst>
                <a:gd name="adj1" fmla="val -7569"/>
                <a:gd name="adj2" fmla="val 53107"/>
              </a:avLst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2C63769-B358-8B94-2292-08D1974FFBB7}"/>
              </a:ext>
            </a:extLst>
          </p:cNvPr>
          <p:cNvSpPr txBox="1"/>
          <p:nvPr/>
        </p:nvSpPr>
        <p:spPr>
          <a:xfrm>
            <a:off x="411587" y="46252"/>
            <a:ext cx="11157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54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r>
              <a:rPr lang="en-AU" sz="3600" b="1" dirty="0">
                <a:solidFill>
                  <a:srgbClr val="003152"/>
                </a:solidFill>
                <a:latin typeface="+mj-lt"/>
              </a:rPr>
              <a:t>National Partnership for Climate Projections</a:t>
            </a:r>
          </a:p>
        </p:txBody>
      </p:sp>
    </p:spTree>
    <p:extLst>
      <p:ext uri="{BB962C8B-B14F-4D97-AF65-F5344CB8AC3E}">
        <p14:creationId xmlns:p14="http://schemas.microsoft.com/office/powerpoint/2010/main" val="90832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models: ACCESS-ESM1-5, EC-Earth3, GFDL-ESM4</a:t>
            </a:r>
          </a:p>
          <a:p>
            <a:pPr lvl="1"/>
            <a:r>
              <a:rPr lang="en-AU" dirty="0"/>
              <a:t>Climate scenarios: SSP370</a:t>
            </a:r>
          </a:p>
          <a:p>
            <a:pPr lvl="2"/>
            <a:r>
              <a:rPr lang="en-AU" dirty="0"/>
              <a:t>If you have time the data folder includes SSP126 and SSP245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Validate the data against observations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 if required for your application</a:t>
            </a:r>
          </a:p>
          <a:p>
            <a:pPr lvl="1"/>
            <a:r>
              <a:rPr lang="en-AU" dirty="0"/>
              <a:t>Tomorrow you will be using bioclimatic indices our team prepared. This dataset has been statistically downscaled (5 km) and bias corrected. Data will be available on </a:t>
            </a:r>
            <a:r>
              <a:rPr lang="en-AU" dirty="0" err="1"/>
              <a:t>EcoCommons</a:t>
            </a:r>
            <a:r>
              <a:rPr lang="en-AU" dirty="0"/>
              <a:t>.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  <a:p>
            <a:endParaRPr lang="en-AU" dirty="0"/>
          </a:p>
          <a:p>
            <a:r>
              <a:rPr lang="en-AU" dirty="0"/>
              <a:t>Calculate ensemble mean at the end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1137793" y="1880075"/>
            <a:ext cx="3314566" cy="34208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7D57-56E2-4BA5-9556-2D28DD03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74E46-4220-769E-AD76-F882003ED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813716" cy="4789400"/>
          </a:xfrm>
        </p:spPr>
        <p:txBody>
          <a:bodyPr>
            <a:normAutofit/>
          </a:bodyPr>
          <a:lstStyle/>
          <a:p>
            <a:r>
              <a:rPr lang="en-AU" dirty="0"/>
              <a:t>Can you modify this plot? Add a title, modify the colours</a:t>
            </a:r>
            <a:endParaRPr lang="en-AU" i="1" dirty="0"/>
          </a:p>
          <a:p>
            <a:endParaRPr lang="en-AU" dirty="0"/>
          </a:p>
          <a:p>
            <a:r>
              <a:rPr lang="en-AU" dirty="0"/>
              <a:t>Can you plot the other models? How do they compare to this one? </a:t>
            </a:r>
          </a:p>
          <a:p>
            <a:endParaRPr lang="en-AU" dirty="0"/>
          </a:p>
          <a:p>
            <a:r>
              <a:rPr lang="en-AU" dirty="0"/>
              <a:t>Hints:</a:t>
            </a:r>
          </a:p>
          <a:p>
            <a:pPr lvl="1"/>
            <a:r>
              <a:rPr lang="en-AU" i="1" dirty="0"/>
              <a:t>plot(main = “title”)</a:t>
            </a:r>
          </a:p>
          <a:p>
            <a:pPr lvl="1"/>
            <a:r>
              <a:rPr lang="en-AU" i="1" dirty="0"/>
              <a:t>plot(col=</a:t>
            </a:r>
            <a:r>
              <a:rPr lang="en-AU" i="1" dirty="0" err="1"/>
              <a:t>brewer.pal</a:t>
            </a:r>
            <a:r>
              <a:rPr lang="en-AU" i="1" dirty="0"/>
              <a:t>(11, “</a:t>
            </a:r>
            <a:r>
              <a:rPr lang="en-AU" i="1" dirty="0" err="1"/>
              <a:t>YlOrRd</a:t>
            </a:r>
            <a:r>
              <a:rPr lang="en-AU" i="1" dirty="0"/>
              <a:t>”). </a:t>
            </a:r>
            <a:r>
              <a:rPr lang="en-AU" dirty="0"/>
              <a:t>See </a:t>
            </a:r>
            <a:r>
              <a:rPr lang="en-AU" dirty="0">
                <a:hlinkClick r:id="rId2"/>
              </a:rPr>
              <a:t>https://colorbrewer2.org/</a:t>
            </a:r>
            <a:r>
              <a:rPr lang="en-AU" dirty="0"/>
              <a:t> for ideas!</a:t>
            </a:r>
          </a:p>
          <a:p>
            <a:pPr lvl="1"/>
            <a:r>
              <a:rPr lang="en-AU" dirty="0"/>
              <a:t>plot multi-panel figures using </a:t>
            </a:r>
            <a:r>
              <a:rPr lang="en-AU" i="1" dirty="0"/>
              <a:t>par(</a:t>
            </a:r>
            <a:r>
              <a:rPr lang="en-AU" i="1" dirty="0" err="1"/>
              <a:t>mfrow</a:t>
            </a:r>
            <a:r>
              <a:rPr lang="en-AU" i="1" dirty="0"/>
              <a:t> = c(</a:t>
            </a:r>
            <a:r>
              <a:rPr lang="en-AU" i="1" dirty="0" err="1"/>
              <a:t>nrows</a:t>
            </a:r>
            <a:r>
              <a:rPr lang="en-AU" i="1" dirty="0"/>
              <a:t>, </a:t>
            </a:r>
            <a:r>
              <a:rPr lang="en-AU" i="1" dirty="0" err="1"/>
              <a:t>ncols</a:t>
            </a:r>
            <a:r>
              <a:rPr lang="en-AU" i="1" dirty="0"/>
              <a:t>))</a:t>
            </a:r>
          </a:p>
          <a:p>
            <a:pPr lvl="1"/>
            <a:r>
              <a:rPr lang="en-AU" dirty="0"/>
              <a:t>R is widely used – there’s lot of information on the internet!</a:t>
            </a:r>
          </a:p>
        </p:txBody>
      </p:sp>
    </p:spTree>
    <p:extLst>
      <p:ext uri="{BB962C8B-B14F-4D97-AF65-F5344CB8AC3E}">
        <p14:creationId xmlns:p14="http://schemas.microsoft.com/office/powerpoint/2010/main" val="1357770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0096"/>
            <a:ext cx="6257537" cy="2667394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7BFE2-9E93-B8E2-A82B-3767A5E06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451" y="1144588"/>
            <a:ext cx="3998237" cy="46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10982-7B03-9F98-0317-5847BBC8E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EE895-A49F-E4A5-5354-8D5D6C74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you modify this plot? Add a title and change the colours.</a:t>
            </a:r>
          </a:p>
          <a:p>
            <a:endParaRPr lang="en-AU" dirty="0"/>
          </a:p>
          <a:p>
            <a:r>
              <a:rPr lang="en-AU" dirty="0"/>
              <a:t>Can you plot multiple models on one figure? Is that helpful?</a:t>
            </a:r>
          </a:p>
          <a:p>
            <a:endParaRPr lang="en-AU" dirty="0"/>
          </a:p>
          <a:p>
            <a:r>
              <a:rPr lang="en-AU" dirty="0"/>
              <a:t>What do the other scenarios look like? SSP126 and SSP245 are in the </a:t>
            </a:r>
            <a:r>
              <a:rPr lang="en-AU"/>
              <a:t>data folder. </a:t>
            </a:r>
            <a:r>
              <a:rPr lang="en-AU" dirty="0"/>
              <a:t>Try plotting them!</a:t>
            </a:r>
          </a:p>
          <a:p>
            <a:endParaRPr lang="en-AU" dirty="0"/>
          </a:p>
          <a:p>
            <a:r>
              <a:rPr lang="en-AU" dirty="0"/>
              <a:t>There’s lots of information available online:</a:t>
            </a:r>
          </a:p>
          <a:p>
            <a:pPr lvl="1"/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lvl="1"/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7088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Validation and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01340-6F4F-E1CF-4588-910B1AE10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82083"/>
            <a:ext cx="4191000" cy="4775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7AF08-A807-AC35-4228-6A2AA89E9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04"/>
          <a:stretch/>
        </p:blipFill>
        <p:spPr>
          <a:xfrm>
            <a:off x="6691313" y="1220155"/>
            <a:ext cx="4014787" cy="456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BACD-AE30-C13A-FE07-68BC28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6BAF0-0E19-C612-7856-A631B395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22CC3-40CB-7F33-E33D-8D002A5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859" y="1375576"/>
            <a:ext cx="5907821" cy="4901260"/>
          </a:xfrm>
        </p:spPr>
        <p:txBody>
          <a:bodyPr>
            <a:normAutofit/>
          </a:bodyPr>
          <a:lstStyle/>
          <a:p>
            <a:r>
              <a:rPr lang="en-AU" dirty="0"/>
              <a:t>Ensure observations and modelled data are comparable</a:t>
            </a:r>
          </a:p>
          <a:p>
            <a:pPr lvl="1"/>
            <a:r>
              <a:rPr lang="en-AU" dirty="0"/>
              <a:t>Spatial resolution</a:t>
            </a:r>
          </a:p>
          <a:p>
            <a:pPr lvl="1"/>
            <a:r>
              <a:rPr lang="en-AU" dirty="0"/>
              <a:t>Temporal resolution</a:t>
            </a:r>
          </a:p>
          <a:p>
            <a:pPr lvl="1"/>
            <a:endParaRPr lang="en-AU" dirty="0"/>
          </a:p>
          <a:p>
            <a:r>
              <a:rPr lang="en-AU" dirty="0"/>
              <a:t>Quantifying performance: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  <a:p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6BB6-46AE-D4D5-0F8E-E7EFA8BAF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8" r="21917"/>
          <a:stretch/>
        </p:blipFill>
        <p:spPr>
          <a:xfrm>
            <a:off x="6758230" y="365125"/>
            <a:ext cx="4595570" cy="57134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/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A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AU" i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𝑚𝑜𝑑𝑒𝑙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A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𝑜𝑏𝑠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A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nary>
                            </m:e>
                          </m:d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/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𝑀𝐴𝑃𝐸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A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𝑚𝑜𝑑𝑒𝑙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A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×100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47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5823-616C-96A9-6D16-B964D175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C402-C5CA-9558-8AF7-56961CA1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Spatial Averages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F05FE-6493-86C0-841D-8E961F5EB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8" y="1249920"/>
            <a:ext cx="6591525" cy="450262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117450-CABE-F9F1-3713-E4E9243D6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958" y="1106531"/>
            <a:ext cx="5289606" cy="4789400"/>
          </a:xfrm>
        </p:spPr>
        <p:txBody>
          <a:bodyPr>
            <a:normAutofit/>
          </a:bodyPr>
          <a:lstStyle/>
          <a:p>
            <a:r>
              <a:rPr lang="en-AU" dirty="0"/>
              <a:t>Average of cut raster considers all cells</a:t>
            </a:r>
          </a:p>
          <a:p>
            <a:endParaRPr lang="en-AU" dirty="0"/>
          </a:p>
          <a:p>
            <a:r>
              <a:rPr lang="en-AU" b="1" dirty="0"/>
              <a:t>terra::extract</a:t>
            </a:r>
            <a:r>
              <a:rPr lang="en-AU" dirty="0"/>
              <a:t> weights the mean by the area within the shapefile</a:t>
            </a:r>
          </a:p>
          <a:p>
            <a:endParaRPr lang="en-AU" dirty="0"/>
          </a:p>
          <a:p>
            <a:r>
              <a:rPr lang="en-AU" dirty="0"/>
              <a:t>More precise results, especially for smaller shapefiles</a:t>
            </a:r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25693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Calculate ensemble average at the end! 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3238</TotalTime>
  <Words>1361</Words>
  <Application>Microsoft Office PowerPoint</Application>
  <PresentationFormat>Widescreen</PresentationFormat>
  <Paragraphs>235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Cambria Math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PowerPoint Presentation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Your turn!</vt:lpstr>
      <vt:lpstr>What does your data look like?</vt:lpstr>
      <vt:lpstr>Part 2: What does your data look like?</vt:lpstr>
      <vt:lpstr>Your turn!</vt:lpstr>
      <vt:lpstr>Part 3: Validation and Bioclimatic indicators</vt:lpstr>
      <vt:lpstr>Input data</vt:lpstr>
      <vt:lpstr>What does your data look like?</vt:lpstr>
      <vt:lpstr>Validating the data</vt:lpstr>
      <vt:lpstr>Spatial Averages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382</cp:revision>
  <cp:lastPrinted>2022-06-24T06:31:07Z</cp:lastPrinted>
  <dcterms:created xsi:type="dcterms:W3CDTF">2022-06-01T23:36:27Z</dcterms:created>
  <dcterms:modified xsi:type="dcterms:W3CDTF">2025-05-25T23:49:22Z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